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5" r:id="rId10"/>
    <p:sldId id="266" r:id="rId11"/>
    <p:sldId id="267" r:id="rId12"/>
    <p:sldId id="268" r:id="rId13"/>
    <p:sldId id="269" r:id="rId14"/>
    <p:sldId id="264" r:id="rId15"/>
    <p:sldId id="270" r:id="rId16"/>
    <p:sldId id="274" r:id="rId17"/>
    <p:sldId id="271" r:id="rId18"/>
    <p:sldId id="272" r:id="rId19"/>
    <p:sldId id="273" r:id="rId20"/>
    <p:sldId id="262" r:id="rId21"/>
    <p:sldId id="263"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173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p:txBody>
      </p:sp>
      <p:sp>
        <p:nvSpPr>
          <p:cNvPr id="3" name="Date Placeholder"/>
          <p:cNvSpPr>
            <a:spLocks noGrp="1"/>
          </p:cNvSpPr>
          <p:nvPr>
            <p:ph type="dt" sz="quarter" idx="1"/>
          </p:nvPr>
        </p:nvSpPr>
        <p:spPr>
          <a:prstGeom prst="rect">
            <a:avLst/>
          </a:prstGeom>
        </p:spPr>
        <p:txBody>
          <a:bodyPr/>
          <a:lstStyle/>
          <a:p/>
        </p:txBody>
      </p:sp>
      <p:sp>
        <p:nvSpPr>
          <p:cNvPr id="4" name="Slide Image Placeholder"/>
          <p:cNvSpPr>
            <a:spLocks noGrp="1" noRot="1" noChangeAspect="1"/>
          </p:cNvSpPr>
          <p:nvPr>
            <p:ph type="sldImg" idx="2"/>
          </p:nvPr>
        </p:nvSpPr>
        <p:spPr>
          <a:prstGeom prst="rect">
            <a:avLst/>
          </a:prstGeom>
        </p:spPr>
        <p:txBody>
          <a:bodyPr/>
          <a:lstStyle/>
          <a:p/>
        </p:txBody>
      </p:sp>
      <p:sp>
        <p:nvSpPr>
          <p:cNvPr id="5" name="Notes Placeholder"/>
          <p:cNvSpPr>
            <a:spLocks noGrp="1"/>
          </p:cNvSpPr>
          <p:nvPr>
            <p:ph type="body" sz="quarter" idx="3"/>
          </p:nvPr>
        </p:nvSpPr>
        <p:spPr>
          <a:prstGeom prst="rect">
            <a:avLst/>
          </a:prstGeom>
        </p:spPr>
        <p:txBody>
          <a:bodyPr/>
          <a:lstStyle/>
          <a:p/>
        </p:txBody>
      </p:sp>
      <p:sp>
        <p:nvSpPr>
          <p:cNvPr id="6" name="Footer Placeholder"/>
          <p:cNvSpPr>
            <a:spLocks noGrp="1"/>
          </p:cNvSpPr>
          <p:nvPr>
            <p:ph type="ftr" sz="quarter" idx="4"/>
          </p:nvPr>
        </p:nvSpPr>
        <p:spPr>
          <a:prstGeom prst="rect">
            <a:avLst/>
          </a:prstGeom>
        </p:spPr>
        <p:txBody>
          <a:bodyPr/>
          <a:lstStyle/>
          <a:p/>
        </p:txBody>
      </p:sp>
      <p:sp>
        <p:nvSpPr>
          <p:cNvPr id="7" name="Slide Number Placeholder"/>
          <p:cNvSpPr>
            <a:spLocks noGrp="1"/>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(about 15 seconds): “Our mini-project is Distributed Chat with Leader Election. It is a three-server TCP chat prototype that demonstrates cross-server messaging, a replicated active-user directory, heartbeat-based failure suspicion and leader election. The browser UI is an optional layer over the existing TCP backend.” Replace the student, panel, batch, faculty and date fields before presenting.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Problem and objectives (40 seconds): Explain that a private-message sender cannot route to a remote recipient without a user-to-server directory. The leader helps coordinate registry operations, while normal private messages can route directly between servers. Mention that this is a prototype and that failure detection is based on heartbeat timeouts, so it indicates suspicion rather than proof.</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Design and tools (45 seconds): Trace browser → WebSocket gateway → selected TCP server. Explain that the three server processes also communicate with one another over peer ports for heartbeat, election and registry synchronization. The gateway uses port 8000; backend client-facing ports are 5001–5003 and peer ports are 6001–6003. The diagram describes the intended architecture; verify the gateway’s message parser against the actual backend wire format.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Implementation (55 seconds): For /all, the chat path broadcasts to the cluster. For /msg, the sender’s server looks up the target username in global_users and routes directly to the target’s server. Heartbeat timeouts trigger an election; the highest-ID live server should announce itself coordinator. Mention the actual Windows issue: `source` is not a PowerShell command; using the Windows venv Python directly worked far enough for the Uvicorn application to report startup complete. Do not claim browser chat works until it is tested against the backend message framing.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Testing and results (50 seconds): Carefully distinguish reported development status from evidence collected for this deliverable. Do not present the status graphic as a raw console screenshot. The gateway’s startup log verifies that the ASGI app started; it does not prove that browser JSON, TCP command framing and backend response parsing all match. Before submission, capture actual terminal screenshots for /all, /msg and a controlled leader failover, and update statuses according to what is observed.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Demonstration (65 seconds): Prepare the servers before the presentation timer starts. Show one global chat message and one private message between clients connected to different servers. Then stop the current leader or highest-ID server and observe the surviving cluster’s election and coordinator announcement. If time is short or the controlled failure is risky, use a prepared recording only if you clearly identify it as recorded evidence. Never invent an output or claim a failover that was not observed.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Design and tools (45 seconds): Trace browser → WebSocket gateway → selected TCP server. Explain that the three server processes also communicate with one another over peer ports for heartbeat, election and registry synchronization. The gateway uses port 8000; backend client-facing ports are 5001–5003 and peer ports are 6001–6003. The diagram describes the intended architecture; verify the gateway’s message parser against the actual backend wire format.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Conclusion (30 seconds): Summarize the technical objectives—cross-server messaging, global user lookup and dynamic coordinator election. State the main limitations: in-memory directory, possible inconsistency and client reconnection after a server failure. Give a concrete future improvement such as durable state transfer. Replace team responsibility placeholders with the actual contributions. Disclose that AI tools helped draft the text and that the team is responsible for validating it.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slide for questions. The Bully-style election design is motivated by the distributed election literature [1]. TCP behaviour is specified in RFC 9293 [2]. Python socket and FastAPI WebSocket documentation support the networking APIs used [3], [4].</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p:cNvSpPr>
            <a:spLocks noGrp="1"/>
          </p:cNvSpPr>
          <p:nvPr>
            <p:ph type="title"/>
          </p:nvPr>
        </p:nvSpPr>
        <p:spPr>
          <a:xfrm>
            <a:off x="914400" y="2590800"/>
            <a:ext cx="7315200" cy="990600"/>
          </a:xfrm>
          <a:prstGeom prst="rect">
            <a:avLst/>
          </a:prstGeom>
          <a:noFill/>
          <a:ln>
            <a:noFill/>
            <a:prstDash val="solid"/>
          </a:ln>
        </p:spPr>
        <p:txBody>
          <a:bodyPr wrap="square" lIns="0" tIns="0" rIns="0" bIns="0" anchor="ctr">
            <a:normAutofit/>
          </a:bodyPr>
          <a:lstStyle>
            <a:defPPr algn="ctr">
              <a:defRPr sz="3600" b="1">
                <a:solidFill>
                  <a:schemeClr val="tx1"/>
                </a:solidFill>
                <a:latin typeface="+mj-lt"/>
                <a:ea typeface="+mj-lt"/>
                <a:cs typeface="+mj-lt"/>
              </a:defRPr>
            </a:defPPr>
            <a:lvl1pPr/>
            <a:lvl2pPr/>
            <a:lvl3pPr/>
            <a:lvl4pPr/>
            <a:lvl5pPr/>
            <a:lvl6pPr/>
            <a:lvl7pPr/>
            <a:lvl8pPr/>
            <a:lvl9pPr/>
          </a:lstStyle>
          <a:p/>
        </p:txBody>
      </p:sp>
      <p:sp>
        <p:nvSpPr>
          <p:cNvPr id="2" name="Subtitle"/>
          <p:cNvSpPr>
            <a:spLocks noGrp="1"/>
          </p:cNvSpPr>
          <p:nvPr>
            <p:ph type="subTitle" idx="1"/>
          </p:nvPr>
        </p:nvSpPr>
        <p:spPr>
          <a:xfrm>
            <a:off x="1371600" y="3771900"/>
            <a:ext cx="6400800" cy="762000"/>
          </a:xfrm>
          <a:prstGeom prst="rect">
            <a:avLst/>
          </a:prstGeom>
          <a:noFill/>
          <a:ln>
            <a:noFill/>
            <a:prstDash val="solid"/>
          </a:ln>
        </p:spPr>
        <p:txBody>
          <a:bodyPr wrap="square" lIns="0" tIns="0" rIns="0" bIns="0" anchor="ctr">
            <a:normAutofit/>
          </a:bodyPr>
          <a:lstStyle>
            <a:defPPr algn="ctr">
              <a:defRPr sz="1575" b="0">
                <a:solidFill>
                  <a:schemeClr val="tx1"/>
                </a:solidFill>
                <a:latin typeface="+mn-lt"/>
                <a:ea typeface="+mn-lt"/>
                <a:cs typeface="+mn-lt"/>
              </a:defRPr>
            </a:defPPr>
            <a:lvl1pPr/>
            <a:lvl2pPr/>
            <a:lvl3pPr/>
            <a:lvl4pPr/>
            <a:lvl5pPr/>
            <a:lvl6pPr/>
            <a:lvl7pPr/>
            <a:lvl8p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p:cNvSpPr>
            <a:spLocks noGrp="1"/>
          </p:cNvSpPr>
          <p:nvPr>
            <p:ph type="title"/>
          </p:nvPr>
        </p:nvSpPr>
        <p:spPr>
          <a:xfrm>
            <a:off x="914400" y="2857500"/>
            <a:ext cx="7315200" cy="1143000"/>
          </a:xfrm>
          <a:prstGeom prst="rect">
            <a:avLst/>
          </a:prstGeom>
          <a:noFill/>
          <a:ln>
            <a:noFill/>
            <a:prstDash val="solid"/>
          </a:ln>
        </p:spPr>
        <p:txBody>
          <a:bodyPr wrap="square" lIns="0" tIns="0" rIns="0" bIns="0" anchor="ctr">
            <a:normAutofit/>
          </a:bodyPr>
          <a:lstStyle>
            <a:defPPr algn="ctr">
              <a:defRPr sz="3150" b="1">
                <a:solidFill>
                  <a:schemeClr val="tx1"/>
                </a:solidFill>
                <a:latin typeface="+mj-lt"/>
                <a:ea typeface="+mj-lt"/>
                <a:cs typeface="+mj-lt"/>
              </a:defRPr>
            </a:defPPr>
            <a:lvl1pPr/>
            <a:lvl2pPr/>
            <a:lvl3pPr/>
            <a:lvl4pPr/>
            <a:lvl5pPr/>
            <a:lvl6pPr/>
            <a:lvl7pPr/>
            <a:lvl8p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p:cNvSpPr>
            <a:spLocks noGrp="1"/>
          </p:cNvSpPr>
          <p:nvPr>
            <p:ph type="title"/>
          </p:nvPr>
        </p:nvSpPr>
        <p:spPr>
          <a:xfrm>
            <a:off x="514350" y="533400"/>
            <a:ext cx="8115300" cy="838200"/>
          </a:xfrm>
          <a:prstGeom prst="rect">
            <a:avLst/>
          </a:prstGeom>
          <a:noFill/>
          <a:ln>
            <a:noFill/>
            <a:prstDash val="solid"/>
          </a:ln>
        </p:spPr>
        <p:txBody>
          <a:bodyPr wrap="square" lIns="0" tIns="0" rIns="0" bIns="0" anchor="t">
            <a:normAutofit/>
          </a:bodyPr>
          <a:lstStyle>
            <a:defPPr algn="l">
              <a:defRPr sz="2475" b="1">
                <a:solidFill>
                  <a:schemeClr val="tx1"/>
                </a:solidFill>
                <a:latin typeface="+mj-lt"/>
                <a:ea typeface="+mj-lt"/>
                <a:cs typeface="+mj-lt"/>
              </a:defRPr>
            </a:defPPr>
            <a:lvl1pPr/>
            <a:lvl2pPr/>
            <a:lvl3pPr/>
            <a:lvl4pPr/>
            <a:lvl5pPr/>
            <a:lvl6pPr/>
            <a:lvl7pPr/>
            <a:lvl8pPr/>
            <a:lvl9pPr/>
          </a:lstStyle>
          <a:p/>
        </p:txBody>
      </p:sp>
      <p:sp>
        <p:nvSpPr>
          <p:cNvPr id="2" name="Body"/>
          <p:cNvSpPr>
            <a:spLocks noGrp="1"/>
          </p:cNvSpPr>
          <p:nvPr>
            <p:ph type="body" idx="1"/>
          </p:nvPr>
        </p:nvSpPr>
        <p:spPr>
          <a:xfrm>
            <a:off x="514350" y="1905000"/>
            <a:ext cx="8115300" cy="4267200"/>
          </a:xfrm>
          <a:prstGeom prst="rect">
            <a:avLst/>
          </a:prstGeom>
          <a:noFill/>
          <a:ln>
            <a:noFill/>
            <a:prstDash val="solid"/>
          </a:ln>
        </p:spPr>
        <p:txBody>
          <a:bodyPr wrap="square" lIns="0" tIns="0" rIns="0" bIns="0" anchor="t">
            <a:normAutofit/>
          </a:bodyPr>
          <a:lstStyle>
            <a:defPPr algn="l">
              <a:defRPr sz="1690" b="0">
                <a:solidFill>
                  <a:schemeClr val="tx1"/>
                </a:solidFill>
                <a:latin typeface="+mn-lt"/>
                <a:ea typeface="+mn-lt"/>
                <a:cs typeface="+mn-lt"/>
              </a:defRPr>
            </a:defPPr>
            <a:lvl1pPr/>
            <a:lvl2pPr/>
            <a:lvl3pPr/>
            <a:lvl4pPr/>
            <a:lvl5pPr/>
            <a:lvl6pPr/>
            <a:lvl7pPr/>
            <a:lvl8p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p:cNvSpPr>
            <a:spLocks noGrp="1"/>
          </p:cNvSpPr>
          <p:nvPr>
            <p:ph type="title"/>
          </p:nvPr>
        </p:nvSpPr>
        <p:spPr>
          <a:xfrm>
            <a:off x="514350" y="533400"/>
            <a:ext cx="8115300" cy="838200"/>
          </a:xfrm>
          <a:prstGeom prst="rect">
            <a:avLst/>
          </a:prstGeom>
          <a:noFill/>
          <a:ln>
            <a:noFill/>
            <a:prstDash val="solid"/>
          </a:ln>
        </p:spPr>
        <p:txBody>
          <a:bodyPr wrap="square" lIns="0" tIns="0" rIns="0" bIns="0" anchor="t">
            <a:normAutofit/>
          </a:bodyPr>
          <a:lstStyle>
            <a:defPPr algn="l">
              <a:defRPr sz="2475" b="1">
                <a:solidFill>
                  <a:schemeClr val="tx1"/>
                </a:solidFill>
                <a:latin typeface="+mj-lt"/>
                <a:ea typeface="+mj-lt"/>
                <a:cs typeface="+mj-lt"/>
              </a:defRPr>
            </a:defPPr>
            <a:lvl1pPr/>
            <a:lvl2pPr/>
            <a:lvl3pPr/>
            <a:lvl4pPr/>
            <a:lvl5pPr/>
            <a:lvl6pPr/>
            <a:lvl7pPr/>
            <a:lvl8pPr/>
            <a:lvl9pPr/>
          </a:lstStyle>
          <a:p/>
        </p:txBody>
      </p:sp>
      <p:sp>
        <p:nvSpPr>
          <p:cNvPr id="2" name="Left column"/>
          <p:cNvSpPr>
            <a:spLocks noGrp="1"/>
          </p:cNvSpPr>
          <p:nvPr>
            <p:ph type="body" idx="1"/>
          </p:nvPr>
        </p:nvSpPr>
        <p:spPr>
          <a:xfrm>
            <a:off x="514350" y="1905000"/>
            <a:ext cx="3771900" cy="4267200"/>
          </a:xfrm>
          <a:prstGeom prst="rect">
            <a:avLst/>
          </a:prstGeom>
          <a:noFill/>
          <a:ln>
            <a:noFill/>
            <a:prstDash val="solid"/>
          </a:ln>
        </p:spPr>
        <p:txBody>
          <a:bodyPr wrap="square" lIns="0" tIns="0" rIns="0" bIns="0" anchor="t">
            <a:normAutofit/>
          </a:bodyPr>
          <a:lstStyle>
            <a:defPPr algn="l">
              <a:defRPr sz="1575" b="0">
                <a:solidFill>
                  <a:schemeClr val="tx1"/>
                </a:solidFill>
                <a:latin typeface="+mn-lt"/>
                <a:ea typeface="+mn-lt"/>
                <a:cs typeface="+mn-lt"/>
              </a:defRPr>
            </a:defPPr>
            <a:lvl1pPr/>
            <a:lvl2pPr/>
            <a:lvl3pPr/>
            <a:lvl4pPr/>
            <a:lvl5pPr/>
            <a:lvl6pPr/>
            <a:lvl7pPr/>
            <a:lvl8pPr/>
            <a:lvl9pPr/>
          </a:lstStyle>
          <a:p/>
        </p:txBody>
      </p:sp>
      <p:sp>
        <p:nvSpPr>
          <p:cNvPr id="3" name="Right column"/>
          <p:cNvSpPr>
            <a:spLocks noGrp="1"/>
          </p:cNvSpPr>
          <p:nvPr>
            <p:ph type="body" idx="2"/>
          </p:nvPr>
        </p:nvSpPr>
        <p:spPr>
          <a:xfrm>
            <a:off x="4857750" y="1905000"/>
            <a:ext cx="3771900" cy="4267200"/>
          </a:xfrm>
          <a:prstGeom prst="rect">
            <a:avLst/>
          </a:prstGeom>
          <a:noFill/>
          <a:ln>
            <a:noFill/>
            <a:prstDash val="solid"/>
          </a:ln>
        </p:spPr>
        <p:txBody>
          <a:bodyPr wrap="square" lIns="0" tIns="0" rIns="0" bIns="0" anchor="t">
            <a:normAutofit/>
          </a:bodyPr>
          <a:lstStyle>
            <a:defPPr algn="l">
              <a:defRPr sz="1575" b="0">
                <a:solidFill>
                  <a:schemeClr val="tx1"/>
                </a:solidFill>
                <a:latin typeface="+mn-lt"/>
                <a:ea typeface="+mn-lt"/>
                <a:cs typeface="+mn-lt"/>
              </a:defRPr>
            </a:defPPr>
            <a:lvl1pPr/>
            <a:lvl2pPr/>
            <a:lvl3pPr/>
            <a:lvl4pPr/>
            <a:lvl5pPr/>
            <a:lvl6pPr/>
            <a:lvl7pPr/>
            <a:lvl8p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p:cNvSpPr>
            <a:spLocks noGrp="1"/>
          </p:cNvSpPr>
          <p:nvPr>
            <p:ph type="title"/>
          </p:nvPr>
        </p:nvSpPr>
        <p:spPr>
          <a:xfrm>
            <a:off x="514350" y="533400"/>
            <a:ext cx="8115300" cy="838200"/>
          </a:xfrm>
          <a:prstGeom prst="rect">
            <a:avLst/>
          </a:prstGeom>
          <a:noFill/>
          <a:ln>
            <a:noFill/>
            <a:prstDash val="solid"/>
          </a:ln>
        </p:spPr>
        <p:txBody>
          <a:bodyPr wrap="square" lIns="0" tIns="0" rIns="0" bIns="0" anchor="t">
            <a:normAutofit/>
          </a:bodyPr>
          <a:lstStyle>
            <a:defPPr algn="l">
              <a:defRPr sz="2475" b="1">
                <a:solidFill>
                  <a:schemeClr val="tx1"/>
                </a:solidFill>
                <a:latin typeface="+mj-lt"/>
                <a:ea typeface="+mj-lt"/>
                <a:cs typeface="+mj-lt"/>
              </a:defRPr>
            </a:defPPr>
            <a:lvl1pPr/>
            <a:lvl2pPr/>
            <a:lvl3pPr/>
            <a:lvl4pPr/>
            <a:lvl5pPr/>
            <a:lvl6pPr/>
            <a:lvl7pPr/>
            <a:lvl8pPr/>
            <a:lvl9pPr/>
          </a:lstStyle>
          <a:p/>
        </p:txBody>
      </p:sp>
      <p:sp>
        <p:nvSpPr>
          <p:cNvPr id="2" name="Left column"/>
          <p:cNvSpPr>
            <a:spLocks noGrp="1"/>
          </p:cNvSpPr>
          <p:nvPr>
            <p:ph type="body" idx="1"/>
          </p:nvPr>
        </p:nvSpPr>
        <p:spPr>
          <a:xfrm>
            <a:off x="514350" y="1905000"/>
            <a:ext cx="3771900" cy="4267200"/>
          </a:xfrm>
          <a:prstGeom prst="rect">
            <a:avLst/>
          </a:prstGeom>
          <a:noFill/>
          <a:ln>
            <a:noFill/>
            <a:prstDash val="solid"/>
          </a:ln>
        </p:spPr>
        <p:txBody>
          <a:bodyPr wrap="square" lIns="0" tIns="0" rIns="0" bIns="0" anchor="t">
            <a:normAutofit/>
          </a:bodyPr>
          <a:lstStyle>
            <a:defPPr algn="l">
              <a:defRPr sz="1690" b="0">
                <a:solidFill>
                  <a:schemeClr val="tx1"/>
                </a:solidFill>
                <a:latin typeface="+mn-lt"/>
                <a:ea typeface="+mn-lt"/>
                <a:cs typeface="+mn-lt"/>
              </a:defRPr>
            </a:defPPr>
            <a:lvl1pPr/>
            <a:lvl2pPr/>
            <a:lvl3pPr/>
            <a:lvl4pPr/>
            <a:lvl5pPr/>
            <a:lvl6pPr/>
            <a:lvl7pPr/>
            <a:lvl8p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8.png"/><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a:spLocks noGrp="1"/>
          </p:cNvSpPr>
          <p:nvPr/>
        </p:nvSpPr>
        <p:spPr>
          <a:xfrm>
            <a:off x="523875" y="1524000"/>
            <a:ext cx="8096250" cy="1000125"/>
          </a:xfrm>
          <a:prstGeom prst="rect">
            <a:avLst/>
          </a:prstGeom>
          <a:noFill/>
          <a:ln w="0">
            <a:noFill/>
            <a:prstDash val="solid"/>
          </a:ln>
        </p:spPr>
        <p:txBody>
          <a:bodyPr/>
          <a:lstStyle>
            <a:defPPr>
              <a:defRPr sz="2550" b="1">
                <a:solidFill>
                  <a:srgbClr val="20375C"/>
                </a:solidFill>
                <a:latin typeface="Arial" panose="020B0604020202020204"/>
                <a:ea typeface="Arial" panose="020B0604020202020204"/>
                <a:cs typeface="Arial" panose="020B0604020202020204"/>
              </a:defRPr>
            </a:defPPr>
          </a:lstStyle>
          <a:p>
            <a:pPr algn="ctr">
              <a:defRPr sz="2550" b="1">
                <a:solidFill>
                  <a:srgbClr val="20375C"/>
                </a:solidFill>
                <a:latin typeface="Arial" panose="020B0604020202020204"/>
                <a:ea typeface="Arial" panose="020B0604020202020204"/>
                <a:cs typeface="Arial" panose="020B0604020202020204"/>
              </a:defRPr>
            </a:pPr>
            <a:r>
              <a:rPr sz="2300" b="1" dirty="0">
                <a:solidFill>
                  <a:srgbClr val="20375C"/>
                </a:solidFill>
                <a:latin typeface="Arial" panose="020B0604020202020204"/>
                <a:ea typeface="Arial" panose="020B0604020202020204"/>
                <a:cs typeface="Arial" panose="020B0604020202020204"/>
              </a:rPr>
              <a:t>Distributed Chat with Leader Election</a:t>
            </a:r>
            <a:endParaRPr sz="2300" b="1" dirty="0">
              <a:solidFill>
                <a:srgbClr val="20375C"/>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523875" y="6315075"/>
            <a:ext cx="5905500" cy="238125"/>
          </a:xfrm>
          <a:prstGeom prst="rect">
            <a:avLst/>
          </a:prstGeom>
          <a:noFill/>
          <a:ln w="0">
            <a:noFill/>
            <a:prstDash val="solid"/>
          </a:ln>
        </p:spPr>
        <p:txBody>
          <a:bodyPr/>
          <a:lstStyle>
            <a:defPPr>
              <a:defRPr sz="1125" b="0">
                <a:solidFill>
                  <a:srgbClr val="555555"/>
                </a:solidFill>
                <a:latin typeface="Arial" panose="020B0604020202020204"/>
                <a:ea typeface="Arial" panose="020B0604020202020204"/>
                <a:cs typeface="Arial" panose="020B0604020202020204"/>
              </a:defRPr>
            </a:defPPr>
          </a:lstStyle>
          <a:p>
            <a:pPr>
              <a:defRPr sz="1125" b="0">
                <a:solidFill>
                  <a:srgbClr val="555555"/>
                </a:solidFill>
                <a:latin typeface="Arial" panose="020B0604020202020204"/>
                <a:ea typeface="Arial" panose="020B0604020202020204"/>
                <a:cs typeface="Arial" panose="020B0604020202020204"/>
              </a:defRPr>
            </a:pPr>
            <a:r>
              <a:rPr sz="1125" b="0">
                <a:solidFill>
                  <a:srgbClr val="555555"/>
                </a:solidFill>
                <a:latin typeface="Arial" panose="020B0604020202020204"/>
                <a:ea typeface="Arial" panose="020B0604020202020204"/>
                <a:cs typeface="Arial" panose="020B0604020202020204"/>
              </a:rPr>
              <a:t>Computer Networks Laboratory   CSE20110</a:t>
            </a:r>
            <a:endParaRPr sz="1125" b="0">
              <a:solidFill>
                <a:srgbClr val="555555"/>
              </a:solidFill>
              <a:latin typeface="Arial" panose="020B0604020202020204"/>
              <a:ea typeface="Arial" panose="020B0604020202020204"/>
              <a:cs typeface="Arial" panose="020B0604020202020204"/>
            </a:endParaRPr>
          </a:p>
        </p:txBody>
      </p:sp>
      <p:sp>
        <p:nvSpPr>
          <p:cNvPr id="3" name="Rectangle 2"/>
          <p:cNvSpPr>
            <a:spLocks noGrp="1"/>
          </p:cNvSpPr>
          <p:nvPr/>
        </p:nvSpPr>
        <p:spPr>
          <a:xfrm>
            <a:off x="6667500" y="6315075"/>
            <a:ext cx="1905000" cy="238125"/>
          </a:xfrm>
          <a:prstGeom prst="rect">
            <a:avLst/>
          </a:prstGeom>
          <a:noFill/>
          <a:ln w="0">
            <a:noFill/>
            <a:prstDash val="solid"/>
          </a:ln>
        </p:spPr>
        <p:txBody>
          <a:bodyPr/>
          <a:lstStyle>
            <a:defPPr>
              <a:defRPr sz="1125" b="0">
                <a:solidFill>
                  <a:srgbClr val="555555"/>
                </a:solidFill>
                <a:latin typeface="Arial" panose="020B0604020202020204"/>
                <a:ea typeface="Arial" panose="020B0604020202020204"/>
                <a:cs typeface="Arial" panose="020B0604020202020204"/>
              </a:defRPr>
            </a:defPPr>
          </a:lstStyle>
          <a:p>
            <a:pPr>
              <a:defRPr sz="1125" b="0">
                <a:solidFill>
                  <a:srgbClr val="555555"/>
                </a:solidFill>
                <a:latin typeface="Arial" panose="020B0604020202020204"/>
                <a:ea typeface="Arial" panose="020B0604020202020204"/>
                <a:cs typeface="Arial" panose="020B0604020202020204"/>
              </a:defRPr>
            </a:pPr>
            <a:r>
              <a:rPr sz="1125" b="0">
                <a:solidFill>
                  <a:srgbClr val="555555"/>
                </a:solidFill>
                <a:latin typeface="Arial" panose="020B0604020202020204"/>
                <a:ea typeface="Arial" panose="020B0604020202020204"/>
                <a:cs typeface="Arial" panose="020B0604020202020204"/>
              </a:rPr>
              <a:t>15 seconds</a:t>
            </a:r>
            <a:endParaRPr sz="1125" b="0">
              <a:solidFill>
                <a:srgbClr val="555555"/>
              </a:solidFill>
              <a:latin typeface="Arial" panose="020B0604020202020204"/>
              <a:ea typeface="Arial" panose="020B0604020202020204"/>
              <a:cs typeface="Arial" panose="020B0604020202020204"/>
            </a:endParaRPr>
          </a:p>
        </p:txBody>
      </p:sp>
      <p:pic>
        <p:nvPicPr>
          <p:cNvPr id="4" name="Picture 3"/>
          <p:cNvPicPr>
            <a:picLocks noChangeAspect="1"/>
          </p:cNvPicPr>
          <p:nvPr/>
        </p:nvPicPr>
        <p:blipFill>
          <a:blip r:embed="rId1"/>
          <a:stretch>
            <a:fillRect/>
          </a:stretch>
        </p:blipFill>
        <p:spPr>
          <a:xfrm>
            <a:off x="2916647" y="349624"/>
            <a:ext cx="3310706" cy="952500"/>
          </a:xfrm>
          <a:prstGeom prst="rect">
            <a:avLst/>
          </a:prstGeom>
        </p:spPr>
      </p:pic>
      <p:sp>
        <p:nvSpPr>
          <p:cNvPr id="5" name="Rectangle 4"/>
          <p:cNvSpPr>
            <a:spLocks noGrp="1"/>
          </p:cNvSpPr>
          <p:nvPr/>
        </p:nvSpPr>
        <p:spPr>
          <a:xfrm>
            <a:off x="523875" y="2667000"/>
            <a:ext cx="8096250" cy="333375"/>
          </a:xfrm>
          <a:prstGeom prst="rect">
            <a:avLst/>
          </a:prstGeom>
          <a:noFill/>
          <a:ln w="0">
            <a:noFill/>
            <a:prstDash val="solid"/>
          </a:ln>
        </p:spPr>
        <p:txBody>
          <a:bodyPr/>
          <a:lstStyle>
            <a:defPPr>
              <a:defRPr sz="1950" b="1">
                <a:solidFill>
                  <a:srgbClr val="202020"/>
                </a:solidFill>
                <a:latin typeface="Arial" panose="020B0604020202020204"/>
                <a:ea typeface="Arial" panose="020B0604020202020204"/>
                <a:cs typeface="Arial" panose="020B0604020202020204"/>
              </a:defRPr>
            </a:defPPr>
          </a:lstStyle>
          <a:p>
            <a:pPr algn="ctr">
              <a:defRPr sz="1950" b="1">
                <a:solidFill>
                  <a:srgbClr val="202020"/>
                </a:solidFill>
                <a:latin typeface="Arial" panose="020B0604020202020204"/>
                <a:ea typeface="Arial" panose="020B0604020202020204"/>
                <a:cs typeface="Arial" panose="020B0604020202020204"/>
              </a:defRPr>
            </a:pPr>
            <a:r>
              <a:rPr sz="1950" b="1" dirty="0">
                <a:solidFill>
                  <a:srgbClr val="202020"/>
                </a:solidFill>
                <a:latin typeface="Arial" panose="020B0604020202020204"/>
                <a:ea typeface="Arial" panose="020B0604020202020204"/>
                <a:cs typeface="Arial" panose="020B0604020202020204"/>
              </a:rPr>
              <a:t>Mini-project presentation</a:t>
            </a:r>
            <a:endParaRPr sz="1950" b="1" dirty="0">
              <a:solidFill>
                <a:srgbClr val="202020"/>
              </a:solidFill>
              <a:latin typeface="Arial" panose="020B0604020202020204"/>
              <a:ea typeface="Arial" panose="020B0604020202020204"/>
              <a:cs typeface="Arial" panose="020B0604020202020204"/>
            </a:endParaRPr>
          </a:p>
        </p:txBody>
      </p:sp>
      <p:sp>
        <p:nvSpPr>
          <p:cNvPr id="6" name="Rectangle 5"/>
          <p:cNvSpPr>
            <a:spLocks noGrp="1"/>
          </p:cNvSpPr>
          <p:nvPr/>
        </p:nvSpPr>
        <p:spPr>
          <a:xfrm>
            <a:off x="523875" y="3143250"/>
            <a:ext cx="8096250" cy="666750"/>
          </a:xfrm>
          <a:prstGeom prst="rect">
            <a:avLst/>
          </a:prstGeom>
          <a:noFill/>
          <a:ln w="0">
            <a:noFill/>
            <a:prstDash val="solid"/>
          </a:ln>
        </p:spPr>
        <p:txBody>
          <a:bodyPr/>
          <a:lstStyle>
            <a:defPPr>
              <a:defRPr sz="1650" b="0">
                <a:solidFill>
                  <a:srgbClr val="202020"/>
                </a:solidFill>
                <a:latin typeface="Arial" panose="020B0604020202020204"/>
                <a:ea typeface="Arial" panose="020B0604020202020204"/>
                <a:cs typeface="Arial" panose="020B0604020202020204"/>
              </a:defRPr>
            </a:defPPr>
          </a:lstStyle>
          <a:p>
            <a:pPr algn="ctr">
              <a:defRPr sz="1650" b="0">
                <a:solidFill>
                  <a:srgbClr val="202020"/>
                </a:solidFill>
                <a:latin typeface="Arial" panose="020B0604020202020204"/>
                <a:ea typeface="Arial" panose="020B0604020202020204"/>
                <a:cs typeface="Arial" panose="020B0604020202020204"/>
              </a:defRPr>
            </a:pPr>
            <a:r>
              <a:rPr sz="1500" b="0" dirty="0">
                <a:solidFill>
                  <a:srgbClr val="202020"/>
                </a:solidFill>
                <a:latin typeface="Arial" panose="020B0604020202020204"/>
                <a:ea typeface="Arial" panose="020B0604020202020204"/>
                <a:cs typeface="Arial" panose="020B0604020202020204"/>
              </a:rPr>
              <a:t>Computer Networks Laboratory (CSE20110)</a:t>
            </a:r>
            <a:endParaRPr sz="1500" b="0" dirty="0">
              <a:solidFill>
                <a:srgbClr val="202020"/>
              </a:solidFill>
              <a:latin typeface="Arial" panose="020B0604020202020204"/>
              <a:ea typeface="Arial" panose="020B0604020202020204"/>
              <a:cs typeface="Arial" panose="020B0604020202020204"/>
            </a:endParaRPr>
          </a:p>
          <a:p>
            <a:pPr algn="ctr">
              <a:defRPr sz="1650" b="0">
                <a:solidFill>
                  <a:srgbClr val="202020"/>
                </a:solidFill>
                <a:latin typeface="Arial" panose="020B0604020202020204"/>
                <a:ea typeface="Arial" panose="020B0604020202020204"/>
                <a:cs typeface="Arial" panose="020B0604020202020204"/>
              </a:defRPr>
            </a:pPr>
            <a:r>
              <a:rPr sz="1500" b="0" dirty="0">
                <a:solidFill>
                  <a:srgbClr val="202020"/>
                </a:solidFill>
                <a:latin typeface="Arial" panose="020B0604020202020204"/>
                <a:ea typeface="Arial" panose="020B0604020202020204"/>
                <a:cs typeface="Arial" panose="020B0604020202020204"/>
              </a:rPr>
              <a:t>Department of Computer Engineering and Technology</a:t>
            </a:r>
            <a:endParaRPr sz="1500" b="0" dirty="0">
              <a:solidFill>
                <a:srgbClr val="202020"/>
              </a:solidFill>
              <a:latin typeface="Arial" panose="020B0604020202020204"/>
              <a:ea typeface="Arial" panose="020B0604020202020204"/>
              <a:cs typeface="Arial" panose="020B0604020202020204"/>
            </a:endParaRPr>
          </a:p>
        </p:txBody>
      </p:sp>
      <p:sp>
        <p:nvSpPr>
          <p:cNvPr id="7" name="Rectangle 6"/>
          <p:cNvSpPr>
            <a:spLocks noGrp="1"/>
          </p:cNvSpPr>
          <p:nvPr/>
        </p:nvSpPr>
        <p:spPr>
          <a:xfrm>
            <a:off x="523875" y="4095750"/>
            <a:ext cx="8096250" cy="714375"/>
          </a:xfrm>
          <a:prstGeom prst="rect">
            <a:avLst/>
          </a:prstGeom>
          <a:noFill/>
          <a:ln w="0">
            <a:noFill/>
            <a:prstDash val="solid"/>
          </a:ln>
        </p:spPr>
        <p:txBody>
          <a:bodyPr/>
          <a:lstStyle>
            <a:defPPr>
              <a:defRPr sz="1575" b="0">
                <a:solidFill>
                  <a:srgbClr val="202020"/>
                </a:solidFill>
                <a:latin typeface="Arial" panose="020B0604020202020204"/>
                <a:ea typeface="Arial" panose="020B0604020202020204"/>
                <a:cs typeface="Arial" panose="020B0604020202020204"/>
              </a:defRPr>
            </a:defPPr>
          </a:lstStyle>
          <a:p>
            <a:pPr algn="ctr">
              <a:defRPr sz="1575" b="0">
                <a:solidFill>
                  <a:srgbClr val="202020"/>
                </a:solidFill>
                <a:latin typeface="Arial" panose="020B0604020202020204"/>
                <a:ea typeface="Arial" panose="020B0604020202020204"/>
                <a:cs typeface="Arial" panose="020B0604020202020204"/>
              </a:defRPr>
            </a:pPr>
            <a:r>
              <a:rPr lang="en-IN" sz="1270" b="0" dirty="0">
                <a:solidFill>
                  <a:srgbClr val="202020"/>
                </a:solidFill>
                <a:latin typeface="Arial" panose="020B0604020202020204"/>
                <a:ea typeface="Arial" panose="020B0604020202020204"/>
                <a:cs typeface="Arial" panose="020B0604020202020204"/>
              </a:rPr>
              <a:t>Raunak Yadav-1262242203  Chinmay Kulkarni-  Prit Jain-</a:t>
            </a:r>
            <a:endParaRPr sz="1270" b="0" dirty="0">
              <a:solidFill>
                <a:srgbClr val="202020"/>
              </a:solidFill>
              <a:latin typeface="Arial" panose="020B0604020202020204"/>
              <a:ea typeface="Arial" panose="020B0604020202020204"/>
              <a:cs typeface="Arial" panose="020B0604020202020204"/>
            </a:endParaRPr>
          </a:p>
        </p:txBody>
      </p:sp>
      <p:sp>
        <p:nvSpPr>
          <p:cNvPr id="8" name="Rectangle 7"/>
          <p:cNvSpPr>
            <a:spLocks noGrp="1"/>
          </p:cNvSpPr>
          <p:nvPr/>
        </p:nvSpPr>
        <p:spPr>
          <a:xfrm>
            <a:off x="523875" y="5095875"/>
            <a:ext cx="8096250" cy="952500"/>
          </a:xfrm>
          <a:prstGeom prst="rect">
            <a:avLst/>
          </a:prstGeom>
          <a:noFill/>
          <a:ln w="0">
            <a:noFill/>
            <a:prstDash val="solid"/>
          </a:ln>
        </p:spPr>
        <p:txBody>
          <a:bodyPr/>
          <a:lstStyle>
            <a:defPPr>
              <a:defRPr sz="1500" b="0">
                <a:solidFill>
                  <a:srgbClr val="202020"/>
                </a:solidFill>
                <a:latin typeface="Arial" panose="020B0604020202020204"/>
                <a:ea typeface="Arial" panose="020B0604020202020204"/>
                <a:cs typeface="Arial" panose="020B0604020202020204"/>
              </a:defRPr>
            </a:defPPr>
          </a:lstStyle>
          <a:p>
            <a:pPr algn="ctr">
              <a:defRPr sz="1500" b="0">
                <a:solidFill>
                  <a:srgbClr val="202020"/>
                </a:solidFill>
                <a:latin typeface="Arial" panose="020B0604020202020204"/>
                <a:ea typeface="Arial" panose="020B0604020202020204"/>
                <a:cs typeface="Arial" panose="020B0604020202020204"/>
              </a:defRPr>
            </a:pPr>
            <a:r>
              <a:rPr sz="1210" b="0" dirty="0">
                <a:solidFill>
                  <a:srgbClr val="202020"/>
                </a:solidFill>
                <a:latin typeface="Arial" panose="020B0604020202020204"/>
                <a:ea typeface="Arial" panose="020B0604020202020204"/>
                <a:cs typeface="Arial" panose="020B0604020202020204"/>
              </a:rPr>
              <a:t>Group: to be filled   Panel: </a:t>
            </a:r>
            <a:r>
              <a:rPr lang="en-IN" sz="1210" b="0" dirty="0">
                <a:solidFill>
                  <a:srgbClr val="202020"/>
                </a:solidFill>
                <a:latin typeface="Arial" panose="020B0604020202020204"/>
                <a:ea typeface="Arial" panose="020B0604020202020204"/>
                <a:cs typeface="Arial" panose="020B0604020202020204"/>
              </a:rPr>
              <a:t>H1</a:t>
            </a:r>
            <a:r>
              <a:rPr sz="1210" b="0" dirty="0">
                <a:solidFill>
                  <a:srgbClr val="202020"/>
                </a:solidFill>
                <a:latin typeface="Arial" panose="020B0604020202020204"/>
                <a:ea typeface="Arial" panose="020B0604020202020204"/>
                <a:cs typeface="Arial" panose="020B0604020202020204"/>
              </a:rPr>
              <a:t>   Batch: </a:t>
            </a:r>
            <a:r>
              <a:rPr lang="en-IN" sz="1210" b="0" dirty="0">
                <a:solidFill>
                  <a:srgbClr val="202020"/>
                </a:solidFill>
                <a:latin typeface="Arial" panose="020B0604020202020204"/>
                <a:ea typeface="Arial" panose="020B0604020202020204"/>
                <a:cs typeface="Arial" panose="020B0604020202020204"/>
              </a:rPr>
              <a:t>1</a:t>
            </a:r>
            <a:endParaRPr sz="1210" b="0" dirty="0">
              <a:solidFill>
                <a:srgbClr val="202020"/>
              </a:solidFill>
              <a:latin typeface="Arial" panose="020B0604020202020204"/>
              <a:ea typeface="Arial" panose="020B0604020202020204"/>
              <a:cs typeface="Arial" panose="020B0604020202020204"/>
            </a:endParaRPr>
          </a:p>
          <a:p>
            <a:pPr algn="ctr">
              <a:defRPr sz="1500" b="0">
                <a:solidFill>
                  <a:srgbClr val="202020"/>
                </a:solidFill>
                <a:latin typeface="Arial" panose="020B0604020202020204"/>
                <a:ea typeface="Arial" panose="020B0604020202020204"/>
                <a:cs typeface="Arial" panose="020B0604020202020204"/>
              </a:defRPr>
            </a:pPr>
            <a:r>
              <a:rPr sz="1210" b="0" dirty="0">
                <a:solidFill>
                  <a:srgbClr val="202020"/>
                </a:solidFill>
                <a:latin typeface="Arial" panose="020B0604020202020204"/>
                <a:ea typeface="Arial" panose="020B0604020202020204"/>
                <a:cs typeface="Arial" panose="020B0604020202020204"/>
              </a:rPr>
              <a:t>Faculty: to be confirmed</a:t>
            </a:r>
            <a:endParaRPr sz="1210" b="0" dirty="0">
              <a:solidFill>
                <a:srgbClr val="202020"/>
              </a:solidFill>
              <a:latin typeface="Arial" panose="020B0604020202020204"/>
              <a:ea typeface="Arial" panose="020B0604020202020204"/>
              <a:cs typeface="Arial" panose="020B0604020202020204"/>
            </a:endParaRPr>
          </a:p>
          <a:p>
            <a:pPr algn="ctr">
              <a:defRPr sz="1500" b="0">
                <a:solidFill>
                  <a:srgbClr val="202020"/>
                </a:solidFill>
                <a:latin typeface="Arial" panose="020B0604020202020204"/>
                <a:ea typeface="Arial" panose="020B0604020202020204"/>
                <a:cs typeface="Arial" panose="020B0604020202020204"/>
              </a:defRPr>
            </a:pPr>
            <a:r>
              <a:rPr lang="en-US" sz="1210" b="0" dirty="0">
                <a:solidFill>
                  <a:srgbClr val="202020"/>
                </a:solidFill>
                <a:latin typeface="Arial" panose="020B0604020202020204"/>
                <a:ea typeface="Arial" panose="020B0604020202020204"/>
                <a:cs typeface="Arial" panose="020B0604020202020204"/>
              </a:rPr>
              <a:t>Academic Year: 2026–2027</a:t>
            </a:r>
            <a:endParaRPr lang="en-US" sz="1210" b="0" dirty="0">
              <a:solidFill>
                <a:srgbClr val="202020"/>
              </a:solidFill>
              <a:latin typeface="Arial" panose="020B0604020202020204"/>
              <a:ea typeface="Arial" panose="020B0604020202020204"/>
              <a:cs typeface="Arial" panose="020B0604020202020204"/>
            </a:endParaRPr>
          </a:p>
          <a:p>
            <a:pPr algn="ctr">
              <a:defRPr sz="1500" b="0">
                <a:solidFill>
                  <a:srgbClr val="202020"/>
                </a:solidFill>
                <a:latin typeface="Arial" panose="020B0604020202020204"/>
                <a:ea typeface="Arial" panose="020B0604020202020204"/>
                <a:cs typeface="Arial" panose="020B0604020202020204"/>
              </a:defRPr>
            </a:pPr>
            <a:r>
              <a:rPr lang="en-US" sz="1210" b="0" dirty="0">
                <a:solidFill>
                  <a:srgbClr val="202020"/>
                </a:solidFill>
                <a:latin typeface="Arial" panose="020B0604020202020204"/>
                <a:ea typeface="Arial" panose="020B0604020202020204"/>
                <a:cs typeface="Arial" panose="020B0604020202020204"/>
              </a:rPr>
              <a:t>Presentation date: to be filled</a:t>
            </a:r>
            <a:endParaRPr lang="en-US" sz="1210" b="0" dirty="0">
              <a:solidFill>
                <a:srgbClr val="202020"/>
              </a:solidFill>
              <a:latin typeface="Arial" panose="020B0604020202020204"/>
              <a:ea typeface="Arial" panose="020B0604020202020204"/>
              <a:cs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p:cNvSpPr>
            <a:spLocks noGrp="1"/>
          </p:cNvSpPr>
          <p:nvPr/>
        </p:nvSpPr>
        <p:spPr>
          <a:xfrm>
            <a:off x="523875" y="400050"/>
            <a:ext cx="8096250" cy="666750"/>
          </a:xfrm>
          <a:prstGeom prst="rect">
            <a:avLst/>
          </a:prstGeom>
          <a:noFill/>
          <a:ln w="0">
            <a:noFill/>
            <a:prstDash val="solid"/>
          </a:ln>
        </p:spPr>
        <p:txBody>
          <a:bodyPr/>
          <a:lstStyle>
            <a:defPPr>
              <a:defRPr sz="2550" b="1">
                <a:solidFill>
                  <a:srgbClr val="20375C"/>
                </a:solidFill>
                <a:latin typeface="Arial" panose="020B0604020202020204"/>
                <a:ea typeface="Arial" panose="020B0604020202020204"/>
                <a:cs typeface="Arial" panose="020B0604020202020204"/>
              </a:defRPr>
            </a:defPPr>
          </a:lstStyle>
          <a:p>
            <a:pPr algn="ctr">
              <a:defRPr sz="2550" b="1">
                <a:solidFill>
                  <a:srgbClr val="20375C"/>
                </a:solidFill>
                <a:latin typeface="Arial" panose="020B0604020202020204"/>
                <a:ea typeface="Arial" panose="020B0604020202020204"/>
                <a:cs typeface="Arial" panose="020B0604020202020204"/>
              </a:defRPr>
            </a:pPr>
            <a:r>
              <a:rPr sz="2550" b="1" dirty="0">
                <a:solidFill>
                  <a:srgbClr val="20375C"/>
                </a:solidFill>
                <a:latin typeface="Arial" panose="020B0604020202020204"/>
                <a:ea typeface="Arial" panose="020B0604020202020204"/>
                <a:cs typeface="Arial" panose="020B0604020202020204"/>
              </a:rPr>
              <a:t>Problem and Objectives</a:t>
            </a:r>
            <a:endParaRPr sz="2550" b="1" dirty="0">
              <a:solidFill>
                <a:srgbClr val="20375C"/>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523875" y="6315075"/>
            <a:ext cx="5905500" cy="238125"/>
          </a:xfrm>
          <a:prstGeom prst="rect">
            <a:avLst/>
          </a:prstGeom>
          <a:noFill/>
          <a:ln w="0">
            <a:noFill/>
            <a:prstDash val="solid"/>
          </a:ln>
        </p:spPr>
        <p:txBody>
          <a:bodyPr/>
          <a:lstStyle>
            <a:defPPr>
              <a:defRPr sz="1125" b="0">
                <a:solidFill>
                  <a:srgbClr val="555555"/>
                </a:solidFill>
                <a:latin typeface="Arial" panose="020B0604020202020204"/>
                <a:ea typeface="Arial" panose="020B0604020202020204"/>
                <a:cs typeface="Arial" panose="020B0604020202020204"/>
              </a:defRPr>
            </a:defPPr>
          </a:lstStyle>
          <a:p>
            <a:pPr>
              <a:defRPr sz="1125" b="0">
                <a:solidFill>
                  <a:srgbClr val="555555"/>
                </a:solidFill>
                <a:latin typeface="Arial" panose="020B0604020202020204"/>
                <a:ea typeface="Arial" panose="020B0604020202020204"/>
                <a:cs typeface="Arial" panose="020B0604020202020204"/>
              </a:defRPr>
            </a:pPr>
            <a:r>
              <a:rPr sz="1125" b="0">
                <a:solidFill>
                  <a:srgbClr val="555555"/>
                </a:solidFill>
                <a:latin typeface="Arial" panose="020B0604020202020204"/>
                <a:ea typeface="Arial" panose="020B0604020202020204"/>
                <a:cs typeface="Arial" panose="020B0604020202020204"/>
              </a:rPr>
              <a:t>Computer Networks Laboratory   CSE20110</a:t>
            </a:r>
            <a:endParaRPr sz="1125" b="0">
              <a:solidFill>
                <a:srgbClr val="555555"/>
              </a:solidFill>
              <a:latin typeface="Arial" panose="020B0604020202020204"/>
              <a:ea typeface="Arial" panose="020B0604020202020204"/>
              <a:cs typeface="Arial" panose="020B0604020202020204"/>
            </a:endParaRPr>
          </a:p>
        </p:txBody>
      </p:sp>
      <p:sp>
        <p:nvSpPr>
          <p:cNvPr id="3" name="Rectangle 2"/>
          <p:cNvSpPr>
            <a:spLocks noGrp="1"/>
          </p:cNvSpPr>
          <p:nvPr/>
        </p:nvSpPr>
        <p:spPr>
          <a:xfrm>
            <a:off x="6667500" y="6315075"/>
            <a:ext cx="1905000" cy="238125"/>
          </a:xfrm>
          <a:prstGeom prst="rect">
            <a:avLst/>
          </a:prstGeom>
          <a:noFill/>
          <a:ln w="0">
            <a:noFill/>
            <a:prstDash val="solid"/>
          </a:ln>
        </p:spPr>
        <p:txBody>
          <a:bodyPr/>
          <a:lstStyle>
            <a:defPPr>
              <a:defRPr sz="1125" b="0">
                <a:solidFill>
                  <a:srgbClr val="555555"/>
                </a:solidFill>
                <a:latin typeface="Arial" panose="020B0604020202020204"/>
                <a:ea typeface="Arial" panose="020B0604020202020204"/>
                <a:cs typeface="Arial" panose="020B0604020202020204"/>
              </a:defRPr>
            </a:defPPr>
          </a:lstStyle>
          <a:p>
            <a:pPr>
              <a:defRPr sz="1125" b="0">
                <a:solidFill>
                  <a:srgbClr val="555555"/>
                </a:solidFill>
                <a:latin typeface="Arial" panose="020B0604020202020204"/>
                <a:ea typeface="Arial" panose="020B0604020202020204"/>
                <a:cs typeface="Arial" panose="020B0604020202020204"/>
              </a:defRPr>
            </a:pPr>
            <a:r>
              <a:rPr sz="1125" b="0">
                <a:solidFill>
                  <a:srgbClr val="555555"/>
                </a:solidFill>
                <a:latin typeface="Arial" panose="020B0604020202020204"/>
                <a:ea typeface="Arial" panose="020B0604020202020204"/>
                <a:cs typeface="Arial" panose="020B0604020202020204"/>
              </a:rPr>
              <a:t>40 seconds</a:t>
            </a:r>
            <a:endParaRPr sz="1125" b="0">
              <a:solidFill>
                <a:srgbClr val="555555"/>
              </a:solidFill>
              <a:latin typeface="Arial" panose="020B0604020202020204"/>
              <a:ea typeface="Arial" panose="020B0604020202020204"/>
              <a:cs typeface="Arial" panose="020B0604020202020204"/>
            </a:endParaRPr>
          </a:p>
        </p:txBody>
      </p:sp>
      <p:sp>
        <p:nvSpPr>
          <p:cNvPr id="4" name="Rectangle 3"/>
          <p:cNvSpPr>
            <a:spLocks noGrp="1"/>
          </p:cNvSpPr>
          <p:nvPr/>
        </p:nvSpPr>
        <p:spPr>
          <a:xfrm>
            <a:off x="523875" y="1333500"/>
            <a:ext cx="8096250" cy="333375"/>
          </a:xfrm>
          <a:prstGeom prst="rect">
            <a:avLst/>
          </a:prstGeom>
          <a:noFill/>
          <a:ln w="0">
            <a:noFill/>
            <a:prstDash val="solid"/>
          </a:ln>
        </p:spPr>
        <p:txBody>
          <a:bodyPr/>
          <a:lstStyle>
            <a:defPPr>
              <a:defRPr sz="1800" b="1">
                <a:solidFill>
                  <a:srgbClr val="202020"/>
                </a:solidFill>
                <a:latin typeface="Arial" panose="020B0604020202020204"/>
                <a:ea typeface="Arial" panose="020B0604020202020204"/>
                <a:cs typeface="Arial" panose="020B0604020202020204"/>
              </a:defRPr>
            </a:defPPr>
          </a:lstStyle>
          <a:p>
            <a:pPr algn="ctr">
              <a:defRPr sz="1800" b="1">
                <a:solidFill>
                  <a:srgbClr val="202020"/>
                </a:solidFill>
                <a:latin typeface="Arial" panose="020B0604020202020204"/>
                <a:ea typeface="Arial" panose="020B0604020202020204"/>
                <a:cs typeface="Arial" panose="020B0604020202020204"/>
              </a:defRPr>
            </a:pPr>
            <a:r>
              <a:rPr sz="1800" b="1" dirty="0">
                <a:solidFill>
                  <a:srgbClr val="202020"/>
                </a:solidFill>
                <a:latin typeface="Arial" panose="020B0604020202020204"/>
                <a:ea typeface="Arial" panose="020B0604020202020204"/>
                <a:cs typeface="Arial" panose="020B0604020202020204"/>
              </a:rPr>
              <a:t>Problem</a:t>
            </a:r>
            <a:endParaRPr sz="1800" b="1" dirty="0">
              <a:solidFill>
                <a:srgbClr val="202020"/>
              </a:solidFill>
              <a:latin typeface="Arial" panose="020B0604020202020204"/>
              <a:ea typeface="Arial" panose="020B0604020202020204"/>
              <a:cs typeface="Arial" panose="020B0604020202020204"/>
            </a:endParaRPr>
          </a:p>
        </p:txBody>
      </p:sp>
      <p:sp>
        <p:nvSpPr>
          <p:cNvPr id="5" name="Rectangle 4"/>
          <p:cNvSpPr>
            <a:spLocks noGrp="1"/>
          </p:cNvSpPr>
          <p:nvPr/>
        </p:nvSpPr>
        <p:spPr>
          <a:xfrm>
            <a:off x="523875" y="1809750"/>
            <a:ext cx="8096250" cy="1000125"/>
          </a:xfrm>
          <a:prstGeom prst="rect">
            <a:avLst/>
          </a:prstGeom>
          <a:noFill/>
          <a:ln w="0">
            <a:noFill/>
            <a:prstDash val="solid"/>
          </a:ln>
        </p:spPr>
        <p:txBody>
          <a:bodyPr/>
          <a:lstStyle>
            <a:defPPr>
              <a:defRPr sz="1800" b="0">
                <a:solidFill>
                  <a:srgbClr val="202020"/>
                </a:solidFill>
                <a:latin typeface="Arial" panose="020B0604020202020204"/>
                <a:ea typeface="Arial" panose="020B0604020202020204"/>
                <a:cs typeface="Arial" panose="020B0604020202020204"/>
              </a:defRPr>
            </a:defPPr>
          </a:lstStyle>
          <a:p>
            <a:pPr>
              <a:defRPr sz="1800" b="0">
                <a:solidFill>
                  <a:srgbClr val="202020"/>
                </a:solidFill>
                <a:latin typeface="Arial" panose="020B0604020202020204"/>
                <a:ea typeface="Arial" panose="020B0604020202020204"/>
                <a:cs typeface="Arial" panose="020B0604020202020204"/>
              </a:defRPr>
            </a:pPr>
            <a:r>
              <a:rPr sz="1500" b="0">
                <a:solidFill>
                  <a:srgbClr val="202020"/>
                </a:solidFill>
                <a:latin typeface="Arial" panose="020B0604020202020204"/>
                <a:ea typeface="Arial" panose="020B0604020202020204"/>
                <a:cs typeface="Arial" panose="020B0604020202020204"/>
              </a:rPr>
              <a:t>Clients connected to different servers need to find one another and exchange messages.</a:t>
            </a:r>
            <a:endParaRPr sz="1500" b="0">
              <a:solidFill>
                <a:srgbClr val="202020"/>
              </a:solidFill>
              <a:latin typeface="Arial" panose="020B0604020202020204"/>
              <a:ea typeface="Arial" panose="020B0604020202020204"/>
              <a:cs typeface="Arial" panose="020B0604020202020204"/>
            </a:endParaRPr>
          </a:p>
          <a:p>
            <a:pPr>
              <a:defRPr sz="1800" b="0">
                <a:solidFill>
                  <a:srgbClr val="202020"/>
                </a:solidFill>
                <a:latin typeface="Arial" panose="020B0604020202020204"/>
                <a:ea typeface="Arial" panose="020B0604020202020204"/>
                <a:cs typeface="Arial" panose="020B0604020202020204"/>
              </a:defRPr>
            </a:pPr>
            <a:r>
              <a:rPr sz="1500" b="0">
                <a:solidFill>
                  <a:srgbClr val="202020"/>
                </a:solidFill>
                <a:latin typeface="Arial" panose="020B0604020202020204"/>
                <a:ea typeface="Arial" panose="020B0604020202020204"/>
                <a:cs typeface="Arial" panose="020B0604020202020204"/>
              </a:rPr>
              <a:t>The cluster also needs to coordinate registry changes and elect a new leader when failure is suspected.</a:t>
            </a:r>
            <a:endParaRPr sz="1500" b="0">
              <a:solidFill>
                <a:srgbClr val="202020"/>
              </a:solidFill>
              <a:latin typeface="Arial" panose="020B0604020202020204"/>
              <a:ea typeface="Arial" panose="020B0604020202020204"/>
              <a:cs typeface="Arial" panose="020B0604020202020204"/>
            </a:endParaRPr>
          </a:p>
        </p:txBody>
      </p:sp>
      <p:sp>
        <p:nvSpPr>
          <p:cNvPr id="6" name="Rectangle 5"/>
          <p:cNvSpPr>
            <a:spLocks noGrp="1"/>
          </p:cNvSpPr>
          <p:nvPr/>
        </p:nvSpPr>
        <p:spPr>
          <a:xfrm>
            <a:off x="523875" y="3190875"/>
            <a:ext cx="8096250" cy="333375"/>
          </a:xfrm>
          <a:prstGeom prst="rect">
            <a:avLst/>
          </a:prstGeom>
          <a:noFill/>
          <a:ln w="0">
            <a:noFill/>
            <a:prstDash val="solid"/>
          </a:ln>
        </p:spPr>
        <p:txBody>
          <a:bodyPr/>
          <a:lstStyle>
            <a:defPPr>
              <a:defRPr sz="1800" b="1">
                <a:solidFill>
                  <a:srgbClr val="202020"/>
                </a:solidFill>
                <a:latin typeface="Arial" panose="020B0604020202020204"/>
                <a:ea typeface="Arial" panose="020B0604020202020204"/>
                <a:cs typeface="Arial" panose="020B0604020202020204"/>
              </a:defRPr>
            </a:defPPr>
          </a:lstStyle>
          <a:p>
            <a:pPr algn="ctr">
              <a:defRPr sz="1800" b="1">
                <a:solidFill>
                  <a:srgbClr val="202020"/>
                </a:solidFill>
                <a:latin typeface="Arial" panose="020B0604020202020204"/>
                <a:ea typeface="Arial" panose="020B0604020202020204"/>
                <a:cs typeface="Arial" panose="020B0604020202020204"/>
              </a:defRPr>
            </a:pPr>
            <a:r>
              <a:rPr sz="1800" b="1" dirty="0">
                <a:solidFill>
                  <a:srgbClr val="202020"/>
                </a:solidFill>
                <a:latin typeface="Arial" panose="020B0604020202020204"/>
                <a:ea typeface="Arial" panose="020B0604020202020204"/>
                <a:cs typeface="Arial" panose="020B0604020202020204"/>
              </a:rPr>
              <a:t>Objectives</a:t>
            </a:r>
            <a:endParaRPr sz="1800" b="1" dirty="0">
              <a:solidFill>
                <a:srgbClr val="202020"/>
              </a:solidFill>
              <a:latin typeface="Arial" panose="020B0604020202020204"/>
              <a:ea typeface="Arial" panose="020B0604020202020204"/>
              <a:cs typeface="Arial" panose="020B0604020202020204"/>
            </a:endParaRPr>
          </a:p>
        </p:txBody>
      </p:sp>
      <p:sp>
        <p:nvSpPr>
          <p:cNvPr id="7" name="Rectangle 6"/>
          <p:cNvSpPr>
            <a:spLocks noGrp="1"/>
          </p:cNvSpPr>
          <p:nvPr/>
        </p:nvSpPr>
        <p:spPr>
          <a:xfrm>
            <a:off x="523875" y="3714750"/>
            <a:ext cx="8096250" cy="1428750"/>
          </a:xfrm>
          <a:prstGeom prst="rect">
            <a:avLst/>
          </a:prstGeom>
          <a:noFill/>
          <a:ln w="0">
            <a:noFill/>
            <a:prstDash val="solid"/>
          </a:ln>
        </p:spPr>
        <p:txBody>
          <a:bodyPr/>
          <a:lstStyle>
            <a:defPPr>
              <a:defRPr sz="1800" b="0">
                <a:solidFill>
                  <a:srgbClr val="202020"/>
                </a:solidFill>
                <a:latin typeface="Arial" panose="020B0604020202020204"/>
                <a:ea typeface="Arial" panose="020B0604020202020204"/>
                <a:cs typeface="Arial" panose="020B0604020202020204"/>
              </a:defRPr>
            </a:defPPr>
          </a:lstStyle>
          <a:p>
            <a:pPr>
              <a:defRPr sz="1800" b="0">
                <a:solidFill>
                  <a:srgbClr val="202020"/>
                </a:solidFill>
                <a:latin typeface="Arial" panose="020B0604020202020204"/>
                <a:ea typeface="Arial" panose="020B0604020202020204"/>
                <a:cs typeface="Arial" panose="020B0604020202020204"/>
              </a:defRPr>
            </a:pPr>
            <a:r>
              <a:rPr sz="1500" b="0">
                <a:solidFill>
                  <a:srgbClr val="202020"/>
                </a:solidFill>
                <a:latin typeface="Arial" panose="020B0604020202020204"/>
                <a:ea typeface="Arial" panose="020B0604020202020204"/>
                <a:cs typeface="Arial" panose="020B0604020202020204"/>
              </a:rPr>
              <a:t>1. Support global chat and private messaging across three TCP servers.</a:t>
            </a:r>
            <a:endParaRPr sz="1500" b="0">
              <a:solidFill>
                <a:srgbClr val="202020"/>
              </a:solidFill>
              <a:latin typeface="Arial" panose="020B0604020202020204"/>
              <a:ea typeface="Arial" panose="020B0604020202020204"/>
              <a:cs typeface="Arial" panose="020B0604020202020204"/>
            </a:endParaRPr>
          </a:p>
          <a:p>
            <a:pPr>
              <a:defRPr sz="1800" b="0">
                <a:solidFill>
                  <a:srgbClr val="202020"/>
                </a:solidFill>
                <a:latin typeface="Arial" panose="020B0604020202020204"/>
                <a:ea typeface="Arial" panose="020B0604020202020204"/>
                <a:cs typeface="Arial" panose="020B0604020202020204"/>
              </a:defRPr>
            </a:pPr>
            <a:r>
              <a:rPr sz="1500" b="0">
                <a:solidFill>
                  <a:srgbClr val="202020"/>
                </a:solidFill>
                <a:latin typeface="Arial" panose="020B0604020202020204"/>
                <a:ea typeface="Arial" panose="020B0604020202020204"/>
                <a:cs typeface="Arial" panose="020B0604020202020204"/>
              </a:rPr>
              <a:t>2. Maintain a global active-user directory and prevent duplicate active usernames.</a:t>
            </a:r>
            <a:endParaRPr sz="1500" b="0">
              <a:solidFill>
                <a:srgbClr val="202020"/>
              </a:solidFill>
              <a:latin typeface="Arial" panose="020B0604020202020204"/>
              <a:ea typeface="Arial" panose="020B0604020202020204"/>
              <a:cs typeface="Arial" panose="020B0604020202020204"/>
            </a:endParaRPr>
          </a:p>
          <a:p>
            <a:pPr>
              <a:defRPr sz="1800" b="0">
                <a:solidFill>
                  <a:srgbClr val="202020"/>
                </a:solidFill>
                <a:latin typeface="Arial" panose="020B0604020202020204"/>
                <a:ea typeface="Arial" panose="020B0604020202020204"/>
                <a:cs typeface="Arial" panose="020B0604020202020204"/>
              </a:defRPr>
            </a:pPr>
            <a:r>
              <a:rPr sz="1500" b="0">
                <a:solidFill>
                  <a:srgbClr val="202020"/>
                </a:solidFill>
                <a:latin typeface="Arial" panose="020B0604020202020204"/>
                <a:ea typeface="Arial" panose="020B0604020202020204"/>
                <a:cs typeface="Arial" panose="020B0604020202020204"/>
              </a:rPr>
              <a:t>3. Detect suspected server failures and elect the highest-ID reachable server.</a:t>
            </a:r>
            <a:endParaRPr sz="1500" b="0">
              <a:solidFill>
                <a:srgbClr val="202020"/>
              </a:solidFill>
              <a:latin typeface="Arial" panose="020B0604020202020204"/>
              <a:ea typeface="Arial" panose="020B0604020202020204"/>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p:cNvSpPr>
            <a:spLocks noGrp="1"/>
          </p:cNvSpPr>
          <p:nvPr/>
        </p:nvSpPr>
        <p:spPr>
          <a:xfrm>
            <a:off x="523875" y="400050"/>
            <a:ext cx="8096250" cy="666750"/>
          </a:xfrm>
          <a:prstGeom prst="rect">
            <a:avLst/>
          </a:prstGeom>
          <a:noFill/>
          <a:ln w="0">
            <a:noFill/>
            <a:prstDash val="solid"/>
          </a:ln>
        </p:spPr>
        <p:txBody>
          <a:bodyPr/>
          <a:lstStyle>
            <a:defPPr>
              <a:defRPr sz="2550" b="1">
                <a:solidFill>
                  <a:srgbClr val="20375C"/>
                </a:solidFill>
                <a:latin typeface="Arial" panose="020B0604020202020204"/>
                <a:ea typeface="Arial" panose="020B0604020202020204"/>
                <a:cs typeface="Arial" panose="020B0604020202020204"/>
              </a:defRPr>
            </a:defPPr>
          </a:lstStyle>
          <a:p>
            <a:pPr algn="ctr">
              <a:defRPr sz="2550" b="1">
                <a:solidFill>
                  <a:srgbClr val="20375C"/>
                </a:solidFill>
                <a:latin typeface="Arial" panose="020B0604020202020204"/>
                <a:ea typeface="Arial" panose="020B0604020202020204"/>
                <a:cs typeface="Arial" panose="020B0604020202020204"/>
              </a:defRPr>
            </a:pPr>
            <a:r>
              <a:rPr sz="2550" b="1" dirty="0">
                <a:solidFill>
                  <a:srgbClr val="20375C"/>
                </a:solidFill>
                <a:latin typeface="Arial" panose="020B0604020202020204"/>
                <a:ea typeface="Arial" panose="020B0604020202020204"/>
                <a:cs typeface="Arial" panose="020B0604020202020204"/>
              </a:rPr>
              <a:t>Proposed Design and Tools</a:t>
            </a:r>
            <a:endParaRPr sz="2550" b="1" dirty="0">
              <a:solidFill>
                <a:srgbClr val="20375C"/>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523875" y="6315075"/>
            <a:ext cx="5905500" cy="238125"/>
          </a:xfrm>
          <a:prstGeom prst="rect">
            <a:avLst/>
          </a:prstGeom>
          <a:noFill/>
          <a:ln w="0">
            <a:noFill/>
            <a:prstDash val="solid"/>
          </a:ln>
        </p:spPr>
        <p:txBody>
          <a:bodyPr/>
          <a:lstStyle>
            <a:defPPr>
              <a:defRPr sz="1125" b="0">
                <a:solidFill>
                  <a:srgbClr val="555555"/>
                </a:solidFill>
                <a:latin typeface="Arial" panose="020B0604020202020204"/>
                <a:ea typeface="Arial" panose="020B0604020202020204"/>
                <a:cs typeface="Arial" panose="020B0604020202020204"/>
              </a:defRPr>
            </a:defPPr>
          </a:lstStyle>
          <a:p>
            <a:pPr>
              <a:defRPr sz="1125" b="0">
                <a:solidFill>
                  <a:srgbClr val="555555"/>
                </a:solidFill>
                <a:latin typeface="Arial" panose="020B0604020202020204"/>
                <a:ea typeface="Arial" panose="020B0604020202020204"/>
                <a:cs typeface="Arial" panose="020B0604020202020204"/>
              </a:defRPr>
            </a:pPr>
            <a:r>
              <a:rPr sz="1125" b="0">
                <a:solidFill>
                  <a:srgbClr val="555555"/>
                </a:solidFill>
                <a:latin typeface="Arial" panose="020B0604020202020204"/>
                <a:ea typeface="Arial" panose="020B0604020202020204"/>
                <a:cs typeface="Arial" panose="020B0604020202020204"/>
              </a:rPr>
              <a:t>Computer Networks Laboratory   CSE20110</a:t>
            </a:r>
            <a:endParaRPr sz="1125" b="0">
              <a:solidFill>
                <a:srgbClr val="555555"/>
              </a:solidFill>
              <a:latin typeface="Arial" panose="020B0604020202020204"/>
              <a:ea typeface="Arial" panose="020B0604020202020204"/>
              <a:cs typeface="Arial" panose="020B0604020202020204"/>
            </a:endParaRPr>
          </a:p>
        </p:txBody>
      </p:sp>
      <p:sp>
        <p:nvSpPr>
          <p:cNvPr id="3" name="Rectangle 2"/>
          <p:cNvSpPr>
            <a:spLocks noGrp="1"/>
          </p:cNvSpPr>
          <p:nvPr/>
        </p:nvSpPr>
        <p:spPr>
          <a:xfrm>
            <a:off x="6667500" y="6315075"/>
            <a:ext cx="1905000" cy="238125"/>
          </a:xfrm>
          <a:prstGeom prst="rect">
            <a:avLst/>
          </a:prstGeom>
          <a:noFill/>
          <a:ln w="0">
            <a:noFill/>
            <a:prstDash val="solid"/>
          </a:ln>
        </p:spPr>
        <p:txBody>
          <a:bodyPr/>
          <a:lstStyle>
            <a:defPPr>
              <a:defRPr sz="1125" b="0">
                <a:solidFill>
                  <a:srgbClr val="555555"/>
                </a:solidFill>
                <a:latin typeface="Arial" panose="020B0604020202020204"/>
                <a:ea typeface="Arial" panose="020B0604020202020204"/>
                <a:cs typeface="Arial" panose="020B0604020202020204"/>
              </a:defRPr>
            </a:defPPr>
          </a:lstStyle>
          <a:p>
            <a:pPr>
              <a:defRPr sz="1125" b="0">
                <a:solidFill>
                  <a:srgbClr val="555555"/>
                </a:solidFill>
                <a:latin typeface="Arial" panose="020B0604020202020204"/>
                <a:ea typeface="Arial" panose="020B0604020202020204"/>
                <a:cs typeface="Arial" panose="020B0604020202020204"/>
              </a:defRPr>
            </a:pPr>
            <a:r>
              <a:rPr sz="1125" b="0">
                <a:solidFill>
                  <a:srgbClr val="555555"/>
                </a:solidFill>
                <a:latin typeface="Arial" panose="020B0604020202020204"/>
                <a:ea typeface="Arial" panose="020B0604020202020204"/>
                <a:cs typeface="Arial" panose="020B0604020202020204"/>
              </a:rPr>
              <a:t>45 seconds</a:t>
            </a:r>
            <a:endParaRPr sz="1125" b="0">
              <a:solidFill>
                <a:srgbClr val="555555"/>
              </a:solidFill>
              <a:latin typeface="Arial" panose="020B0604020202020204"/>
              <a:ea typeface="Arial" panose="020B0604020202020204"/>
              <a:cs typeface="Arial" panose="020B0604020202020204"/>
            </a:endParaRPr>
          </a:p>
        </p:txBody>
      </p:sp>
      <p:sp>
        <p:nvSpPr>
          <p:cNvPr id="5" name="Rectangle 4"/>
          <p:cNvSpPr>
            <a:spLocks noGrp="1"/>
          </p:cNvSpPr>
          <p:nvPr/>
        </p:nvSpPr>
        <p:spPr>
          <a:xfrm>
            <a:off x="523875" y="4095750"/>
            <a:ext cx="8096250" cy="1476375"/>
          </a:xfrm>
          <a:prstGeom prst="rect">
            <a:avLst/>
          </a:prstGeom>
          <a:noFill/>
          <a:ln w="0">
            <a:noFill/>
            <a:prstDash val="solid"/>
          </a:ln>
        </p:spPr>
        <p:txBody>
          <a:bodyPr/>
          <a:lstStyle>
            <a:defPPr>
              <a:defRPr sz="1800" b="0">
                <a:solidFill>
                  <a:srgbClr val="202020"/>
                </a:solidFill>
                <a:latin typeface="Arial" panose="020B0604020202020204"/>
                <a:ea typeface="Arial" panose="020B0604020202020204"/>
                <a:cs typeface="Arial" panose="020B0604020202020204"/>
              </a:defRPr>
            </a:defPPr>
          </a:lstStyle>
          <a:p>
            <a:pPr algn="ctr">
              <a:defRPr sz="1800" b="0">
                <a:solidFill>
                  <a:srgbClr val="202020"/>
                </a:solidFill>
                <a:latin typeface="Arial" panose="020B0604020202020204"/>
                <a:ea typeface="Arial" panose="020B0604020202020204"/>
                <a:cs typeface="Arial" panose="020B0604020202020204"/>
              </a:defRPr>
            </a:pPr>
            <a:r>
              <a:rPr sz="1300" b="0" dirty="0">
                <a:solidFill>
                  <a:srgbClr val="202020"/>
                </a:solidFill>
                <a:latin typeface="Arial" panose="020B0604020202020204"/>
                <a:ea typeface="Arial" panose="020B0604020202020204"/>
                <a:cs typeface="Arial" panose="020B0604020202020204"/>
              </a:rPr>
              <a:t>Tools: Python 3.x, socket library, FastAPI/Uvicorn, HTML/CSS/JavaScript</a:t>
            </a:r>
            <a:endParaRPr sz="1300" b="0" dirty="0">
              <a:solidFill>
                <a:srgbClr val="202020"/>
              </a:solidFill>
              <a:latin typeface="Arial" panose="020B0604020202020204"/>
              <a:ea typeface="Arial" panose="020B0604020202020204"/>
              <a:cs typeface="Arial" panose="020B0604020202020204"/>
            </a:endParaRPr>
          </a:p>
          <a:p>
            <a:pPr algn="ctr">
              <a:defRPr sz="1800" b="0">
                <a:solidFill>
                  <a:srgbClr val="202020"/>
                </a:solidFill>
                <a:latin typeface="Arial" panose="020B0604020202020204"/>
                <a:ea typeface="Arial" panose="020B0604020202020204"/>
                <a:cs typeface="Arial" panose="020B0604020202020204"/>
              </a:defRPr>
            </a:pPr>
            <a:r>
              <a:rPr sz="1300" b="0" dirty="0">
                <a:solidFill>
                  <a:srgbClr val="202020"/>
                </a:solidFill>
                <a:latin typeface="Arial" panose="020B0604020202020204"/>
                <a:ea typeface="Arial" panose="020B0604020202020204"/>
                <a:cs typeface="Arial" panose="020B0604020202020204"/>
              </a:rPr>
              <a:t>Protocols: TCP for chat/peer links; WebSocket between browser and gateway</a:t>
            </a:r>
            <a:endParaRPr sz="1300" b="0" dirty="0">
              <a:solidFill>
                <a:srgbClr val="202020"/>
              </a:solidFill>
              <a:latin typeface="Arial" panose="020B0604020202020204"/>
              <a:ea typeface="Arial" panose="020B0604020202020204"/>
              <a:cs typeface="Arial" panose="020B0604020202020204"/>
            </a:endParaRPr>
          </a:p>
          <a:p>
            <a:pPr algn="ctr">
              <a:defRPr sz="1800" b="0">
                <a:solidFill>
                  <a:srgbClr val="202020"/>
                </a:solidFill>
                <a:latin typeface="Arial" panose="020B0604020202020204"/>
                <a:ea typeface="Arial" panose="020B0604020202020204"/>
                <a:cs typeface="Arial" panose="020B0604020202020204"/>
              </a:defRPr>
            </a:pPr>
            <a:r>
              <a:rPr sz="1300" b="0" dirty="0">
                <a:solidFill>
                  <a:srgbClr val="202020"/>
                </a:solidFill>
                <a:latin typeface="Arial" panose="020B0604020202020204"/>
                <a:ea typeface="Arial" panose="020B0604020202020204"/>
                <a:cs typeface="Arial" panose="020B0604020202020204"/>
              </a:rPr>
              <a:t>Ports: clients 5001–5003; peer servers 6001–6003; gateway 8000 (localhost)</a:t>
            </a:r>
            <a:endParaRPr sz="1300" b="0" dirty="0">
              <a:solidFill>
                <a:srgbClr val="202020"/>
              </a:solidFill>
              <a:latin typeface="Arial" panose="020B0604020202020204"/>
              <a:ea typeface="Arial" panose="020B0604020202020204"/>
              <a:cs typeface="Arial" panose="020B0604020202020204"/>
            </a:endParaRPr>
          </a:p>
        </p:txBody>
      </p:sp>
      <p:pic>
        <p:nvPicPr>
          <p:cNvPr id="7" name="Picture 6" descr="_project_architecture.png"/>
          <p:cNvPicPr>
            <a:picLocks noChangeAspect="1"/>
          </p:cNvPicPr>
          <p:nvPr/>
        </p:nvPicPr>
        <p:blipFill>
          <a:blip r:embed="rId1"/>
          <a:stretch>
            <a:fillRect/>
          </a:stretch>
        </p:blipFill>
        <p:spPr>
          <a:xfrm>
            <a:off x="523875" y="1428750"/>
            <a:ext cx="8096250" cy="22383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p:cNvSpPr>
            <a:spLocks noGrp="1"/>
          </p:cNvSpPr>
          <p:nvPr/>
        </p:nvSpPr>
        <p:spPr>
          <a:xfrm>
            <a:off x="523875" y="400050"/>
            <a:ext cx="8096250" cy="666750"/>
          </a:xfrm>
          <a:prstGeom prst="rect">
            <a:avLst/>
          </a:prstGeom>
          <a:noFill/>
          <a:ln w="0">
            <a:noFill/>
            <a:prstDash val="solid"/>
          </a:ln>
        </p:spPr>
        <p:txBody>
          <a:bodyPr/>
          <a:lstStyle>
            <a:defPPr>
              <a:defRPr sz="2550" b="1">
                <a:solidFill>
                  <a:srgbClr val="20375C"/>
                </a:solidFill>
                <a:latin typeface="Arial" panose="020B0604020202020204"/>
                <a:ea typeface="Arial" panose="020B0604020202020204"/>
                <a:cs typeface="Arial" panose="020B0604020202020204"/>
              </a:defRPr>
            </a:defPPr>
          </a:lstStyle>
          <a:p>
            <a:pPr algn="ctr">
              <a:defRPr sz="2550" b="1">
                <a:solidFill>
                  <a:srgbClr val="20375C"/>
                </a:solidFill>
                <a:latin typeface="Arial" panose="020B0604020202020204"/>
                <a:ea typeface="Arial" panose="020B0604020202020204"/>
                <a:cs typeface="Arial" panose="020B0604020202020204"/>
              </a:defRPr>
            </a:pPr>
            <a:r>
              <a:rPr sz="2550" b="1" dirty="0">
                <a:solidFill>
                  <a:srgbClr val="20375C"/>
                </a:solidFill>
                <a:latin typeface="Arial" panose="020B0604020202020204"/>
                <a:ea typeface="Arial" panose="020B0604020202020204"/>
                <a:cs typeface="Arial" panose="020B0604020202020204"/>
              </a:rPr>
              <a:t>Implementation and Working</a:t>
            </a:r>
            <a:endParaRPr sz="2550" b="1" dirty="0">
              <a:solidFill>
                <a:srgbClr val="20375C"/>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523875" y="6315075"/>
            <a:ext cx="5905500" cy="238125"/>
          </a:xfrm>
          <a:prstGeom prst="rect">
            <a:avLst/>
          </a:prstGeom>
          <a:noFill/>
          <a:ln w="0">
            <a:noFill/>
            <a:prstDash val="solid"/>
          </a:ln>
        </p:spPr>
        <p:txBody>
          <a:bodyPr/>
          <a:lstStyle>
            <a:defPPr>
              <a:defRPr sz="1125" b="0">
                <a:solidFill>
                  <a:srgbClr val="555555"/>
                </a:solidFill>
                <a:latin typeface="Arial" panose="020B0604020202020204"/>
                <a:ea typeface="Arial" panose="020B0604020202020204"/>
                <a:cs typeface="Arial" panose="020B0604020202020204"/>
              </a:defRPr>
            </a:defPPr>
          </a:lstStyle>
          <a:p>
            <a:pPr>
              <a:defRPr sz="1125" b="0">
                <a:solidFill>
                  <a:srgbClr val="555555"/>
                </a:solidFill>
                <a:latin typeface="Arial" panose="020B0604020202020204"/>
                <a:ea typeface="Arial" panose="020B0604020202020204"/>
                <a:cs typeface="Arial" panose="020B0604020202020204"/>
              </a:defRPr>
            </a:pPr>
            <a:r>
              <a:rPr sz="1125" b="0">
                <a:solidFill>
                  <a:srgbClr val="555555"/>
                </a:solidFill>
                <a:latin typeface="Arial" panose="020B0604020202020204"/>
                <a:ea typeface="Arial" panose="020B0604020202020204"/>
                <a:cs typeface="Arial" panose="020B0604020202020204"/>
              </a:rPr>
              <a:t>Computer Networks Laboratory   CSE20110</a:t>
            </a:r>
            <a:endParaRPr sz="1125" b="0">
              <a:solidFill>
                <a:srgbClr val="555555"/>
              </a:solidFill>
              <a:latin typeface="Arial" panose="020B0604020202020204"/>
              <a:ea typeface="Arial" panose="020B0604020202020204"/>
              <a:cs typeface="Arial" panose="020B0604020202020204"/>
            </a:endParaRPr>
          </a:p>
        </p:txBody>
      </p:sp>
      <p:sp>
        <p:nvSpPr>
          <p:cNvPr id="3" name="Rectangle 2"/>
          <p:cNvSpPr>
            <a:spLocks noGrp="1"/>
          </p:cNvSpPr>
          <p:nvPr/>
        </p:nvSpPr>
        <p:spPr>
          <a:xfrm>
            <a:off x="6667500" y="6315075"/>
            <a:ext cx="1905000" cy="238125"/>
          </a:xfrm>
          <a:prstGeom prst="rect">
            <a:avLst/>
          </a:prstGeom>
          <a:noFill/>
          <a:ln w="0">
            <a:noFill/>
            <a:prstDash val="solid"/>
          </a:ln>
        </p:spPr>
        <p:txBody>
          <a:bodyPr/>
          <a:lstStyle>
            <a:defPPr>
              <a:defRPr sz="1125" b="0">
                <a:solidFill>
                  <a:srgbClr val="555555"/>
                </a:solidFill>
                <a:latin typeface="Arial" panose="020B0604020202020204"/>
                <a:ea typeface="Arial" panose="020B0604020202020204"/>
                <a:cs typeface="Arial" panose="020B0604020202020204"/>
              </a:defRPr>
            </a:defPPr>
          </a:lstStyle>
          <a:p>
            <a:pPr>
              <a:defRPr sz="1125" b="0">
                <a:solidFill>
                  <a:srgbClr val="555555"/>
                </a:solidFill>
                <a:latin typeface="Arial" panose="020B0604020202020204"/>
                <a:ea typeface="Arial" panose="020B0604020202020204"/>
                <a:cs typeface="Arial" panose="020B0604020202020204"/>
              </a:defRPr>
            </a:pPr>
            <a:r>
              <a:rPr sz="1125" b="0">
                <a:solidFill>
                  <a:srgbClr val="555555"/>
                </a:solidFill>
                <a:latin typeface="Arial" panose="020B0604020202020204"/>
                <a:ea typeface="Arial" panose="020B0604020202020204"/>
                <a:cs typeface="Arial" panose="020B0604020202020204"/>
              </a:rPr>
              <a:t>55 seconds</a:t>
            </a:r>
            <a:endParaRPr sz="1125" b="0">
              <a:solidFill>
                <a:srgbClr val="555555"/>
              </a:solidFill>
              <a:latin typeface="Arial" panose="020B0604020202020204"/>
              <a:ea typeface="Arial" panose="020B0604020202020204"/>
              <a:cs typeface="Arial" panose="020B0604020202020204"/>
            </a:endParaRPr>
          </a:p>
        </p:txBody>
      </p:sp>
      <p:sp>
        <p:nvSpPr>
          <p:cNvPr id="5" name="Rectangle 4"/>
          <p:cNvSpPr>
            <a:spLocks noGrp="1"/>
          </p:cNvSpPr>
          <p:nvPr/>
        </p:nvSpPr>
        <p:spPr>
          <a:xfrm>
            <a:off x="523875" y="4095750"/>
            <a:ext cx="8096250" cy="1571625"/>
          </a:xfrm>
          <a:prstGeom prst="rect">
            <a:avLst/>
          </a:prstGeom>
          <a:noFill/>
          <a:ln w="0">
            <a:noFill/>
            <a:prstDash val="solid"/>
          </a:ln>
        </p:spPr>
        <p:txBody>
          <a:bodyPr/>
          <a:lstStyle>
            <a:defPPr>
              <a:defRPr sz="1800" b="0">
                <a:solidFill>
                  <a:srgbClr val="202020"/>
                </a:solidFill>
                <a:latin typeface="Arial" panose="020B0604020202020204"/>
                <a:ea typeface="Arial" panose="020B0604020202020204"/>
                <a:cs typeface="Arial" panose="020B0604020202020204"/>
              </a:defRPr>
            </a:defPPr>
          </a:lstStyle>
          <a:p>
            <a:pPr>
              <a:defRPr sz="1800" b="0">
                <a:solidFill>
                  <a:srgbClr val="202020"/>
                </a:solidFill>
                <a:latin typeface="Arial" panose="020B0604020202020204"/>
                <a:ea typeface="Arial" panose="020B0604020202020204"/>
                <a:cs typeface="Arial" panose="020B0604020202020204"/>
              </a:defRPr>
            </a:pPr>
            <a:r>
              <a:rPr sz="1260" b="0">
                <a:solidFill>
                  <a:srgbClr val="202020"/>
                </a:solidFill>
                <a:latin typeface="Arial" panose="020B0604020202020204"/>
                <a:ea typeface="Arial" panose="020B0604020202020204"/>
                <a:cs typeface="Arial" panose="020B0604020202020204"/>
              </a:rPr>
              <a:t>Implementation: three server IDs, client handlers, global_users, heartbeats and election logic.</a:t>
            </a:r>
            <a:endParaRPr sz="1260" b="0">
              <a:solidFill>
                <a:srgbClr val="202020"/>
              </a:solidFill>
              <a:latin typeface="Arial" panose="020B0604020202020204"/>
              <a:ea typeface="Arial" panose="020B0604020202020204"/>
              <a:cs typeface="Arial" panose="020B0604020202020204"/>
            </a:endParaRPr>
          </a:p>
          <a:p>
            <a:pPr>
              <a:defRPr sz="1800" b="0">
                <a:solidFill>
                  <a:srgbClr val="202020"/>
                </a:solidFill>
                <a:latin typeface="Arial" panose="020B0604020202020204"/>
                <a:ea typeface="Arial" panose="020B0604020202020204"/>
                <a:cs typeface="Arial" panose="020B0604020202020204"/>
              </a:defRPr>
            </a:pPr>
            <a:r>
              <a:rPr sz="1260" b="0">
                <a:solidFill>
                  <a:srgbClr val="202020"/>
                </a:solidFill>
                <a:latin typeface="Arial" panose="020B0604020202020204"/>
                <a:ea typeface="Arial" panose="020B0604020202020204"/>
                <a:cs typeface="Arial" panose="020B0604020202020204"/>
              </a:rPr>
              <a:t>Working: /all broadcasts; /msg uses the directory and routes directly to the recipient’s server.</a:t>
            </a:r>
            <a:endParaRPr sz="1260" b="0">
              <a:solidFill>
                <a:srgbClr val="202020"/>
              </a:solidFill>
              <a:latin typeface="Arial" panose="020B0604020202020204"/>
              <a:ea typeface="Arial" panose="020B0604020202020204"/>
              <a:cs typeface="Arial" panose="020B0604020202020204"/>
            </a:endParaRPr>
          </a:p>
          <a:p>
            <a:pPr>
              <a:defRPr sz="1800" b="0">
                <a:solidFill>
                  <a:srgbClr val="202020"/>
                </a:solidFill>
                <a:latin typeface="Arial" panose="020B0604020202020204"/>
                <a:ea typeface="Arial" panose="020B0604020202020204"/>
                <a:cs typeface="Arial" panose="020B0604020202020204"/>
              </a:defRPr>
            </a:pPr>
            <a:r>
              <a:rPr sz="1260" b="0">
                <a:solidFill>
                  <a:srgbClr val="202020"/>
                </a:solidFill>
                <a:latin typeface="Arial" panose="020B0604020202020204"/>
                <a:ea typeface="Arial" panose="020B0604020202020204"/>
                <a:cs typeface="Arial" panose="020B0604020202020204"/>
              </a:rPr>
              <a:t>Troubleshooting: PowerShell uses Windows activation syntax; Uvicorn startup was observed, but gateway chat integration needs a final end-to-end test.</a:t>
            </a:r>
            <a:endParaRPr sz="1260" b="0">
              <a:solidFill>
                <a:srgbClr val="202020"/>
              </a:solidFill>
              <a:latin typeface="Arial" panose="020B0604020202020204"/>
              <a:ea typeface="Arial" panose="020B0604020202020204"/>
              <a:cs typeface="Arial" panose="020B0604020202020204"/>
            </a:endParaRPr>
          </a:p>
        </p:txBody>
      </p:sp>
      <p:pic>
        <p:nvPicPr>
          <p:cNvPr id="7" name="Picture 6" descr="_project_workflow.png"/>
          <p:cNvPicPr>
            <a:picLocks noChangeAspect="1"/>
          </p:cNvPicPr>
          <p:nvPr/>
        </p:nvPicPr>
        <p:blipFill>
          <a:blip r:embed="rId1"/>
          <a:stretch>
            <a:fillRect/>
          </a:stretch>
        </p:blipFill>
        <p:spPr>
          <a:xfrm>
            <a:off x="523875" y="1428750"/>
            <a:ext cx="8096250" cy="21431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p:cNvSpPr>
            <a:spLocks noGrp="1"/>
          </p:cNvSpPr>
          <p:nvPr/>
        </p:nvSpPr>
        <p:spPr>
          <a:xfrm>
            <a:off x="523875" y="400050"/>
            <a:ext cx="8096250" cy="666750"/>
          </a:xfrm>
          <a:prstGeom prst="rect">
            <a:avLst/>
          </a:prstGeom>
          <a:noFill/>
          <a:ln w="0">
            <a:noFill/>
            <a:prstDash val="solid"/>
          </a:ln>
        </p:spPr>
        <p:txBody>
          <a:bodyPr/>
          <a:lstStyle>
            <a:defPPr>
              <a:defRPr sz="2550" b="1">
                <a:solidFill>
                  <a:srgbClr val="20375C"/>
                </a:solidFill>
                <a:latin typeface="Arial" panose="020B0604020202020204"/>
                <a:ea typeface="Arial" panose="020B0604020202020204"/>
                <a:cs typeface="Arial" panose="020B0604020202020204"/>
              </a:defRPr>
            </a:defPPr>
          </a:lstStyle>
          <a:p>
            <a:pPr algn="ctr">
              <a:defRPr sz="2550" b="1">
                <a:solidFill>
                  <a:srgbClr val="20375C"/>
                </a:solidFill>
                <a:latin typeface="Arial" panose="020B0604020202020204"/>
                <a:ea typeface="Arial" panose="020B0604020202020204"/>
                <a:cs typeface="Arial" panose="020B0604020202020204"/>
              </a:defRPr>
            </a:pPr>
            <a:r>
              <a:rPr sz="2550" b="1" dirty="0">
                <a:solidFill>
                  <a:srgbClr val="20375C"/>
                </a:solidFill>
                <a:latin typeface="Arial" panose="020B0604020202020204"/>
                <a:ea typeface="Arial" panose="020B0604020202020204"/>
                <a:cs typeface="Arial" panose="020B0604020202020204"/>
              </a:rPr>
              <a:t>Testing and Results</a:t>
            </a:r>
            <a:endParaRPr sz="2550" b="1" dirty="0">
              <a:solidFill>
                <a:srgbClr val="20375C"/>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523875" y="6315075"/>
            <a:ext cx="5905500" cy="238125"/>
          </a:xfrm>
          <a:prstGeom prst="rect">
            <a:avLst/>
          </a:prstGeom>
          <a:noFill/>
          <a:ln w="0">
            <a:noFill/>
            <a:prstDash val="solid"/>
          </a:ln>
        </p:spPr>
        <p:txBody>
          <a:bodyPr/>
          <a:lstStyle>
            <a:defPPr>
              <a:defRPr sz="1125" b="0">
                <a:solidFill>
                  <a:srgbClr val="555555"/>
                </a:solidFill>
                <a:latin typeface="Arial" panose="020B0604020202020204"/>
                <a:ea typeface="Arial" panose="020B0604020202020204"/>
                <a:cs typeface="Arial" panose="020B0604020202020204"/>
              </a:defRPr>
            </a:defPPr>
          </a:lstStyle>
          <a:p>
            <a:pPr>
              <a:defRPr sz="1125" b="0">
                <a:solidFill>
                  <a:srgbClr val="555555"/>
                </a:solidFill>
                <a:latin typeface="Arial" panose="020B0604020202020204"/>
                <a:ea typeface="Arial" panose="020B0604020202020204"/>
                <a:cs typeface="Arial" panose="020B0604020202020204"/>
              </a:defRPr>
            </a:pPr>
            <a:r>
              <a:rPr sz="1125" b="0">
                <a:solidFill>
                  <a:srgbClr val="555555"/>
                </a:solidFill>
                <a:latin typeface="Arial" panose="020B0604020202020204"/>
                <a:ea typeface="Arial" panose="020B0604020202020204"/>
                <a:cs typeface="Arial" panose="020B0604020202020204"/>
              </a:rPr>
              <a:t>Computer Networks Laboratory   CSE20110</a:t>
            </a:r>
            <a:endParaRPr sz="1125" b="0">
              <a:solidFill>
                <a:srgbClr val="555555"/>
              </a:solidFill>
              <a:latin typeface="Arial" panose="020B0604020202020204"/>
              <a:ea typeface="Arial" panose="020B0604020202020204"/>
              <a:cs typeface="Arial" panose="020B0604020202020204"/>
            </a:endParaRPr>
          </a:p>
        </p:txBody>
      </p:sp>
      <p:sp>
        <p:nvSpPr>
          <p:cNvPr id="3" name="Rectangle 2"/>
          <p:cNvSpPr>
            <a:spLocks noGrp="1"/>
          </p:cNvSpPr>
          <p:nvPr/>
        </p:nvSpPr>
        <p:spPr>
          <a:xfrm>
            <a:off x="6667500" y="6315075"/>
            <a:ext cx="1905000" cy="238125"/>
          </a:xfrm>
          <a:prstGeom prst="rect">
            <a:avLst/>
          </a:prstGeom>
          <a:noFill/>
          <a:ln w="0">
            <a:noFill/>
            <a:prstDash val="solid"/>
          </a:ln>
        </p:spPr>
        <p:txBody>
          <a:bodyPr/>
          <a:lstStyle>
            <a:defPPr>
              <a:defRPr sz="1125" b="0">
                <a:solidFill>
                  <a:srgbClr val="555555"/>
                </a:solidFill>
                <a:latin typeface="Arial" panose="020B0604020202020204"/>
                <a:ea typeface="Arial" panose="020B0604020202020204"/>
                <a:cs typeface="Arial" panose="020B0604020202020204"/>
              </a:defRPr>
            </a:defPPr>
          </a:lstStyle>
          <a:p>
            <a:pPr>
              <a:defRPr sz="1125" b="0">
                <a:solidFill>
                  <a:srgbClr val="555555"/>
                </a:solidFill>
                <a:latin typeface="Arial" panose="020B0604020202020204"/>
                <a:ea typeface="Arial" panose="020B0604020202020204"/>
                <a:cs typeface="Arial" panose="020B0604020202020204"/>
              </a:defRPr>
            </a:pPr>
            <a:r>
              <a:rPr sz="1125" b="0">
                <a:solidFill>
                  <a:srgbClr val="555555"/>
                </a:solidFill>
                <a:latin typeface="Arial" panose="020B0604020202020204"/>
                <a:ea typeface="Arial" panose="020B0604020202020204"/>
                <a:cs typeface="Arial" panose="020B0604020202020204"/>
              </a:rPr>
              <a:t>50 seconds</a:t>
            </a:r>
            <a:endParaRPr sz="1125" b="0">
              <a:solidFill>
                <a:srgbClr val="555555"/>
              </a:solidFill>
              <a:latin typeface="Arial" panose="020B0604020202020204"/>
              <a:ea typeface="Arial" panose="020B0604020202020204"/>
              <a:cs typeface="Arial" panose="020B0604020202020204"/>
            </a:endParaRPr>
          </a:p>
        </p:txBody>
      </p:sp>
      <p:sp>
        <p:nvSpPr>
          <p:cNvPr id="5" name="Rectangle 4"/>
          <p:cNvSpPr>
            <a:spLocks noGrp="1"/>
          </p:cNvSpPr>
          <p:nvPr/>
        </p:nvSpPr>
        <p:spPr>
          <a:xfrm>
            <a:off x="523875" y="3905250"/>
            <a:ext cx="8096250" cy="1809750"/>
          </a:xfrm>
          <a:prstGeom prst="rect">
            <a:avLst/>
          </a:prstGeom>
          <a:noFill/>
          <a:ln w="0">
            <a:noFill/>
            <a:prstDash val="solid"/>
          </a:ln>
        </p:spPr>
        <p:txBody>
          <a:bodyPr/>
          <a:lstStyle>
            <a:defPPr>
              <a:defRPr sz="1800" b="0">
                <a:solidFill>
                  <a:srgbClr val="202020"/>
                </a:solidFill>
                <a:latin typeface="Arial" panose="020B0604020202020204"/>
                <a:ea typeface="Arial" panose="020B0604020202020204"/>
                <a:cs typeface="Arial" panose="020B0604020202020204"/>
              </a:defRPr>
            </a:defPPr>
          </a:lstStyle>
          <a:p>
            <a:pPr>
              <a:defRPr sz="1800" b="0">
                <a:solidFill>
                  <a:srgbClr val="202020"/>
                </a:solidFill>
                <a:latin typeface="Arial" panose="020B0604020202020204"/>
                <a:ea typeface="Arial" panose="020B0604020202020204"/>
                <a:cs typeface="Arial" panose="020B0604020202020204"/>
              </a:defRPr>
            </a:pPr>
            <a:r>
              <a:rPr sz="1180" b="0">
                <a:solidFill>
                  <a:srgbClr val="202020"/>
                </a:solidFill>
                <a:latin typeface="Arial" panose="020B0604020202020204"/>
                <a:ea typeface="Arial" panose="020B0604020202020204"/>
                <a:cs typeface="Arial" panose="020B0604020202020204"/>
              </a:rPr>
              <a:t>Test: multi-server /all, cross-server /msg, duplicate username, controlled leader stop.</a:t>
            </a:r>
            <a:endParaRPr sz="1180" b="0">
              <a:solidFill>
                <a:srgbClr val="202020"/>
              </a:solidFill>
              <a:latin typeface="Arial" panose="020B0604020202020204"/>
              <a:ea typeface="Arial" panose="020B0604020202020204"/>
              <a:cs typeface="Arial" panose="020B0604020202020204"/>
            </a:endParaRPr>
          </a:p>
          <a:p>
            <a:pPr>
              <a:defRPr sz="1800" b="0">
                <a:solidFill>
                  <a:srgbClr val="202020"/>
                </a:solidFill>
                <a:latin typeface="Arial" panose="020B0604020202020204"/>
                <a:ea typeface="Arial" panose="020B0604020202020204"/>
                <a:cs typeface="Arial" panose="020B0604020202020204"/>
              </a:defRPr>
            </a:pPr>
            <a:r>
              <a:rPr sz="1180" b="0">
                <a:solidFill>
                  <a:srgbClr val="202020"/>
                </a:solidFill>
                <a:latin typeface="Arial" panose="020B0604020202020204"/>
                <a:ea typeface="Arial" panose="020B0604020202020204"/>
                <a:cs typeface="Arial" panose="020B0604020202020204"/>
              </a:rPr>
              <a:t>Expected: correct delivery, one active username mapping, and coordinator re-election.</a:t>
            </a:r>
            <a:endParaRPr sz="1180" b="0">
              <a:solidFill>
                <a:srgbClr val="202020"/>
              </a:solidFill>
              <a:latin typeface="Arial" panose="020B0604020202020204"/>
              <a:ea typeface="Arial" panose="020B0604020202020204"/>
              <a:cs typeface="Arial" panose="020B0604020202020204"/>
            </a:endParaRPr>
          </a:p>
          <a:p>
            <a:pPr>
              <a:defRPr sz="1800" b="0">
                <a:solidFill>
                  <a:srgbClr val="202020"/>
                </a:solidFill>
                <a:latin typeface="Arial" panose="020B0604020202020204"/>
                <a:ea typeface="Arial" panose="020B0604020202020204"/>
                <a:cs typeface="Arial" panose="020B0604020202020204"/>
              </a:defRPr>
            </a:pPr>
            <a:r>
              <a:rPr sz="1180" b="0">
                <a:solidFill>
                  <a:srgbClr val="202020"/>
                </a:solidFill>
                <a:latin typeface="Arial" panose="020B0604020202020204"/>
                <a:ea typeface="Arial" panose="020B0604020202020204"/>
                <a:cs typeface="Arial" panose="020B0604020202020204"/>
              </a:rPr>
              <a:t>Observed: backend features were reported working during development; raw logs were not supplied here.</a:t>
            </a:r>
            <a:endParaRPr sz="1180" b="0">
              <a:solidFill>
                <a:srgbClr val="202020"/>
              </a:solidFill>
              <a:latin typeface="Arial" panose="020B0604020202020204"/>
              <a:ea typeface="Arial" panose="020B0604020202020204"/>
              <a:cs typeface="Arial" panose="020B0604020202020204"/>
            </a:endParaRPr>
          </a:p>
          <a:p>
            <a:pPr>
              <a:defRPr sz="1800" b="0">
                <a:solidFill>
                  <a:srgbClr val="202020"/>
                </a:solidFill>
                <a:latin typeface="Arial" panose="020B0604020202020204"/>
                <a:ea typeface="Arial" panose="020B0604020202020204"/>
                <a:cs typeface="Arial" panose="020B0604020202020204"/>
              </a:defRPr>
            </a:pPr>
            <a:r>
              <a:rPr sz="1180" b="0">
                <a:solidFill>
                  <a:srgbClr val="202020"/>
                </a:solidFill>
                <a:latin typeface="Arial" panose="020B0604020202020204"/>
                <a:ea typeface="Arial" panose="020B0604020202020204"/>
                <a:cs typeface="Arial" panose="020B0604020202020204"/>
              </a:rPr>
              <a:t>Observed: Uvicorn reached “Application startup complete”; end-to-end gateway messaging remains unverified.</a:t>
            </a:r>
            <a:endParaRPr sz="1180" b="0">
              <a:solidFill>
                <a:srgbClr val="202020"/>
              </a:solidFill>
              <a:latin typeface="Arial" panose="020B0604020202020204"/>
              <a:ea typeface="Arial" panose="020B0604020202020204"/>
              <a:cs typeface="Arial" panose="020B0604020202020204"/>
            </a:endParaRPr>
          </a:p>
        </p:txBody>
      </p:sp>
      <p:pic>
        <p:nvPicPr>
          <p:cNvPr id="7" name="Picture 6" descr="_test_status.png"/>
          <p:cNvPicPr>
            <a:picLocks noChangeAspect="1"/>
          </p:cNvPicPr>
          <p:nvPr/>
        </p:nvPicPr>
        <p:blipFill>
          <a:blip r:embed="rId1"/>
          <a:stretch>
            <a:fillRect/>
          </a:stretch>
        </p:blipFill>
        <p:spPr>
          <a:xfrm>
            <a:off x="523875" y="1428750"/>
            <a:ext cx="8096250" cy="20002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p:cNvSpPr>
            <a:spLocks noGrp="1"/>
          </p:cNvSpPr>
          <p:nvPr/>
        </p:nvSpPr>
        <p:spPr>
          <a:xfrm>
            <a:off x="523875" y="400050"/>
            <a:ext cx="8096250" cy="666750"/>
          </a:xfrm>
          <a:prstGeom prst="rect">
            <a:avLst/>
          </a:prstGeom>
          <a:noFill/>
          <a:ln w="0">
            <a:noFill/>
            <a:prstDash val="solid"/>
          </a:ln>
        </p:spPr>
        <p:txBody>
          <a:bodyPr/>
          <a:lstStyle>
            <a:defPPr>
              <a:defRPr sz="2550" b="1">
                <a:solidFill>
                  <a:srgbClr val="20375C"/>
                </a:solidFill>
                <a:latin typeface="Arial" panose="020B0604020202020204"/>
                <a:ea typeface="Arial" panose="020B0604020202020204"/>
                <a:cs typeface="Arial" panose="020B0604020202020204"/>
              </a:defRPr>
            </a:defPPr>
          </a:lstStyle>
          <a:p>
            <a:pPr algn="ctr">
              <a:defRPr sz="2550" b="1">
                <a:solidFill>
                  <a:srgbClr val="20375C"/>
                </a:solidFill>
                <a:latin typeface="Arial" panose="020B0604020202020204"/>
                <a:ea typeface="Arial" panose="020B0604020202020204"/>
                <a:cs typeface="Arial" panose="020B0604020202020204"/>
              </a:defRPr>
            </a:pPr>
            <a:r>
              <a:rPr sz="2550" b="1" dirty="0">
                <a:solidFill>
                  <a:srgbClr val="20375C"/>
                </a:solidFill>
                <a:latin typeface="Arial" panose="020B0604020202020204"/>
                <a:ea typeface="Arial" panose="020B0604020202020204"/>
                <a:cs typeface="Arial" panose="020B0604020202020204"/>
              </a:rPr>
              <a:t>Working Demonstration</a:t>
            </a:r>
            <a:endParaRPr sz="2550" b="1" dirty="0">
              <a:solidFill>
                <a:srgbClr val="20375C"/>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523875" y="6315075"/>
            <a:ext cx="5905500" cy="238125"/>
          </a:xfrm>
          <a:prstGeom prst="rect">
            <a:avLst/>
          </a:prstGeom>
          <a:noFill/>
          <a:ln w="0">
            <a:noFill/>
            <a:prstDash val="solid"/>
          </a:ln>
        </p:spPr>
        <p:txBody>
          <a:bodyPr/>
          <a:lstStyle>
            <a:defPPr>
              <a:defRPr sz="1125" b="0">
                <a:solidFill>
                  <a:srgbClr val="555555"/>
                </a:solidFill>
                <a:latin typeface="Arial" panose="020B0604020202020204"/>
                <a:ea typeface="Arial" panose="020B0604020202020204"/>
                <a:cs typeface="Arial" panose="020B0604020202020204"/>
              </a:defRPr>
            </a:defPPr>
          </a:lstStyle>
          <a:p>
            <a:pPr>
              <a:defRPr sz="1125" b="0">
                <a:solidFill>
                  <a:srgbClr val="555555"/>
                </a:solidFill>
                <a:latin typeface="Arial" panose="020B0604020202020204"/>
                <a:ea typeface="Arial" panose="020B0604020202020204"/>
                <a:cs typeface="Arial" panose="020B0604020202020204"/>
              </a:defRPr>
            </a:pPr>
            <a:r>
              <a:rPr sz="1125" b="0">
                <a:solidFill>
                  <a:srgbClr val="555555"/>
                </a:solidFill>
                <a:latin typeface="Arial" panose="020B0604020202020204"/>
                <a:ea typeface="Arial" panose="020B0604020202020204"/>
                <a:cs typeface="Arial" panose="020B0604020202020204"/>
              </a:rPr>
              <a:t>Computer Networks Laboratory   CSE20110</a:t>
            </a:r>
            <a:endParaRPr sz="1125" b="0">
              <a:solidFill>
                <a:srgbClr val="555555"/>
              </a:solidFill>
              <a:latin typeface="Arial" panose="020B0604020202020204"/>
              <a:ea typeface="Arial" panose="020B0604020202020204"/>
              <a:cs typeface="Arial" panose="020B0604020202020204"/>
            </a:endParaRPr>
          </a:p>
        </p:txBody>
      </p:sp>
      <p:sp>
        <p:nvSpPr>
          <p:cNvPr id="3" name="Rectangle 2"/>
          <p:cNvSpPr>
            <a:spLocks noGrp="1"/>
          </p:cNvSpPr>
          <p:nvPr/>
        </p:nvSpPr>
        <p:spPr>
          <a:xfrm>
            <a:off x="6667500" y="6315075"/>
            <a:ext cx="1905000" cy="238125"/>
          </a:xfrm>
          <a:prstGeom prst="rect">
            <a:avLst/>
          </a:prstGeom>
          <a:noFill/>
          <a:ln w="0">
            <a:noFill/>
            <a:prstDash val="solid"/>
          </a:ln>
        </p:spPr>
        <p:txBody>
          <a:bodyPr/>
          <a:lstStyle>
            <a:defPPr>
              <a:defRPr sz="1125" b="0">
                <a:solidFill>
                  <a:srgbClr val="555555"/>
                </a:solidFill>
                <a:latin typeface="Arial" panose="020B0604020202020204"/>
                <a:ea typeface="Arial" panose="020B0604020202020204"/>
                <a:cs typeface="Arial" panose="020B0604020202020204"/>
              </a:defRPr>
            </a:defPPr>
          </a:lstStyle>
          <a:p>
            <a:pPr>
              <a:defRPr sz="1125" b="0">
                <a:solidFill>
                  <a:srgbClr val="555555"/>
                </a:solidFill>
                <a:latin typeface="Arial" panose="020B0604020202020204"/>
                <a:ea typeface="Arial" panose="020B0604020202020204"/>
                <a:cs typeface="Arial" panose="020B0604020202020204"/>
              </a:defRPr>
            </a:pPr>
            <a:r>
              <a:rPr sz="1125" b="0">
                <a:solidFill>
                  <a:srgbClr val="555555"/>
                </a:solidFill>
                <a:latin typeface="Arial" panose="020B0604020202020204"/>
                <a:ea typeface="Arial" panose="020B0604020202020204"/>
                <a:cs typeface="Arial" panose="020B0604020202020204"/>
              </a:rPr>
              <a:t>65 seconds</a:t>
            </a:r>
            <a:endParaRPr sz="1125" b="0">
              <a:solidFill>
                <a:srgbClr val="555555"/>
              </a:solidFill>
              <a:latin typeface="Arial" panose="020B0604020202020204"/>
              <a:ea typeface="Arial" panose="020B0604020202020204"/>
              <a:cs typeface="Arial" panose="020B0604020202020204"/>
            </a:endParaRPr>
          </a:p>
        </p:txBody>
      </p:sp>
      <p:sp>
        <p:nvSpPr>
          <p:cNvPr id="4" name="Rectangle 3"/>
          <p:cNvSpPr>
            <a:spLocks noGrp="1"/>
          </p:cNvSpPr>
          <p:nvPr/>
        </p:nvSpPr>
        <p:spPr>
          <a:xfrm>
            <a:off x="523875" y="1428750"/>
            <a:ext cx="8096250" cy="333375"/>
          </a:xfrm>
          <a:prstGeom prst="rect">
            <a:avLst/>
          </a:prstGeom>
          <a:noFill/>
          <a:ln w="0">
            <a:noFill/>
            <a:prstDash val="solid"/>
          </a:ln>
        </p:spPr>
        <p:txBody>
          <a:bodyPr/>
          <a:lstStyle>
            <a:defPPr>
              <a:defRPr sz="1875" b="1">
                <a:solidFill>
                  <a:srgbClr val="202020"/>
                </a:solidFill>
                <a:latin typeface="Arial" panose="020B0604020202020204"/>
                <a:ea typeface="Arial" panose="020B0604020202020204"/>
                <a:cs typeface="Arial" panose="020B0604020202020204"/>
              </a:defRPr>
            </a:defPPr>
          </a:lstStyle>
          <a:p>
            <a:pPr>
              <a:defRPr sz="1875" b="1">
                <a:solidFill>
                  <a:srgbClr val="202020"/>
                </a:solidFill>
                <a:latin typeface="Arial" panose="020B0604020202020204"/>
                <a:ea typeface="Arial" panose="020B0604020202020204"/>
                <a:cs typeface="Arial" panose="020B0604020202020204"/>
              </a:defRPr>
            </a:pPr>
            <a:r>
              <a:rPr sz="1875" b="1">
                <a:solidFill>
                  <a:srgbClr val="202020"/>
                </a:solidFill>
                <a:latin typeface="Arial" panose="020B0604020202020204"/>
                <a:ea typeface="Arial" panose="020B0604020202020204"/>
                <a:cs typeface="Arial" panose="020B0604020202020204"/>
              </a:rPr>
              <a:t>Function to demonstrate</a:t>
            </a:r>
            <a:endParaRPr sz="1875" b="1">
              <a:solidFill>
                <a:srgbClr val="202020"/>
              </a:solidFill>
              <a:latin typeface="Arial" panose="020B0604020202020204"/>
              <a:ea typeface="Arial" panose="020B0604020202020204"/>
              <a:cs typeface="Arial" panose="020B0604020202020204"/>
            </a:endParaRPr>
          </a:p>
        </p:txBody>
      </p:sp>
      <p:sp>
        <p:nvSpPr>
          <p:cNvPr id="5" name="Rectangle 4"/>
          <p:cNvSpPr>
            <a:spLocks noGrp="1"/>
          </p:cNvSpPr>
          <p:nvPr/>
        </p:nvSpPr>
        <p:spPr>
          <a:xfrm>
            <a:off x="523875" y="1952625"/>
            <a:ext cx="8096250" cy="762000"/>
          </a:xfrm>
          <a:prstGeom prst="rect">
            <a:avLst/>
          </a:prstGeom>
          <a:noFill/>
          <a:ln w="0">
            <a:noFill/>
            <a:prstDash val="solid"/>
          </a:ln>
        </p:spPr>
        <p:txBody>
          <a:bodyPr/>
          <a:lstStyle>
            <a:defPPr>
              <a:defRPr sz="1950" b="0">
                <a:solidFill>
                  <a:srgbClr val="202020"/>
                </a:solidFill>
                <a:latin typeface="Arial" panose="020B0604020202020204"/>
                <a:ea typeface="Arial" panose="020B0604020202020204"/>
                <a:cs typeface="Arial" panose="020B0604020202020204"/>
              </a:defRPr>
            </a:defPPr>
          </a:lstStyle>
          <a:p>
            <a:pPr>
              <a:defRPr sz="1950" b="0">
                <a:solidFill>
                  <a:srgbClr val="202020"/>
                </a:solidFill>
                <a:latin typeface="Arial" panose="020B0604020202020204"/>
                <a:ea typeface="Arial" panose="020B0604020202020204"/>
                <a:cs typeface="Arial" panose="020B0604020202020204"/>
              </a:defRPr>
            </a:pPr>
            <a:r>
              <a:rPr sz="1720" b="0">
                <a:solidFill>
                  <a:srgbClr val="202020"/>
                </a:solidFill>
                <a:latin typeface="Arial" panose="020B0604020202020204"/>
                <a:ea typeface="Arial" panose="020B0604020202020204"/>
                <a:cs typeface="Arial" panose="020B0604020202020204"/>
              </a:rPr>
              <a:t>Three-server messaging and leader election</a:t>
            </a:r>
            <a:endParaRPr sz="1720" b="0">
              <a:solidFill>
                <a:srgbClr val="202020"/>
              </a:solidFill>
              <a:latin typeface="Arial" panose="020B0604020202020204"/>
              <a:ea typeface="Arial" panose="020B0604020202020204"/>
              <a:cs typeface="Arial" panose="020B0604020202020204"/>
            </a:endParaRPr>
          </a:p>
        </p:txBody>
      </p:sp>
      <p:sp>
        <p:nvSpPr>
          <p:cNvPr id="6" name="Rectangle 5"/>
          <p:cNvSpPr>
            <a:spLocks noGrp="1"/>
          </p:cNvSpPr>
          <p:nvPr/>
        </p:nvSpPr>
        <p:spPr>
          <a:xfrm>
            <a:off x="523875" y="3190875"/>
            <a:ext cx="8096250" cy="1524000"/>
          </a:xfrm>
          <a:prstGeom prst="rect">
            <a:avLst/>
          </a:prstGeom>
          <a:noFill/>
          <a:ln w="0">
            <a:noFill/>
            <a:prstDash val="solid"/>
          </a:ln>
        </p:spPr>
        <p:txBody>
          <a:bodyPr/>
          <a:lstStyle>
            <a:defPPr>
              <a:defRPr sz="1950" b="0">
                <a:solidFill>
                  <a:srgbClr val="202020"/>
                </a:solidFill>
                <a:latin typeface="Arial" panose="020B0604020202020204"/>
                <a:ea typeface="Arial" panose="020B0604020202020204"/>
                <a:cs typeface="Arial" panose="020B0604020202020204"/>
              </a:defRPr>
            </a:defPPr>
          </a:lstStyle>
          <a:p>
            <a:pPr>
              <a:defRPr sz="1950" b="0">
                <a:solidFill>
                  <a:srgbClr val="202020"/>
                </a:solidFill>
                <a:latin typeface="Arial" panose="020B0604020202020204"/>
                <a:ea typeface="Arial" panose="020B0604020202020204"/>
                <a:cs typeface="Arial" panose="020B0604020202020204"/>
              </a:defRPr>
            </a:pPr>
            <a:r>
              <a:rPr sz="1400" b="0">
                <a:solidFill>
                  <a:srgbClr val="202020"/>
                </a:solidFill>
                <a:latin typeface="Arial" panose="020B0604020202020204"/>
                <a:ea typeface="Arial" panose="020B0604020202020204"/>
                <a:cs typeface="Arial" panose="020B0604020202020204"/>
              </a:rPr>
              <a:t>1. Start python server.py 1, python server.py 2, and python server.py 3 in three terminals.</a:t>
            </a:r>
            <a:endParaRPr sz="1400" b="0">
              <a:solidFill>
                <a:srgbClr val="202020"/>
              </a:solidFill>
              <a:latin typeface="Arial" panose="020B0604020202020204"/>
              <a:ea typeface="Arial" panose="020B0604020202020204"/>
              <a:cs typeface="Arial" panose="020B0604020202020204"/>
            </a:endParaRPr>
          </a:p>
          <a:p>
            <a:pPr>
              <a:defRPr sz="1950" b="0">
                <a:solidFill>
                  <a:srgbClr val="202020"/>
                </a:solidFill>
                <a:latin typeface="Arial" panose="020B0604020202020204"/>
                <a:ea typeface="Arial" panose="020B0604020202020204"/>
                <a:cs typeface="Arial" panose="020B0604020202020204"/>
              </a:defRPr>
            </a:pPr>
            <a:r>
              <a:rPr sz="1400" b="0">
                <a:solidFill>
                  <a:srgbClr val="202020"/>
                </a:solidFill>
                <a:latin typeface="Arial" panose="020B0604020202020204"/>
                <a:ea typeface="Arial" panose="020B0604020202020204"/>
                <a:cs typeface="Arial" panose="020B0604020202020204"/>
              </a:rPr>
              <a:t>2. Connect clients to different servers; test /all Hello and /msg username Hello.</a:t>
            </a:r>
            <a:endParaRPr sz="1400" b="0">
              <a:solidFill>
                <a:srgbClr val="202020"/>
              </a:solidFill>
              <a:latin typeface="Arial" panose="020B0604020202020204"/>
              <a:ea typeface="Arial" panose="020B0604020202020204"/>
              <a:cs typeface="Arial" panose="020B0604020202020204"/>
            </a:endParaRPr>
          </a:p>
          <a:p>
            <a:pPr>
              <a:defRPr sz="1950" b="0">
                <a:solidFill>
                  <a:srgbClr val="202020"/>
                </a:solidFill>
                <a:latin typeface="Arial" panose="020B0604020202020204"/>
                <a:ea typeface="Arial" panose="020B0604020202020204"/>
                <a:cs typeface="Arial" panose="020B0604020202020204"/>
              </a:defRPr>
            </a:pPr>
            <a:r>
              <a:rPr sz="1400" b="0">
                <a:solidFill>
                  <a:srgbClr val="202020"/>
                </a:solidFill>
                <a:latin typeface="Arial" panose="020B0604020202020204"/>
                <a:ea typeface="Arial" panose="020B0604020202020204"/>
                <a:cs typeface="Arial" panose="020B0604020202020204"/>
              </a:rPr>
              <a:t>3. Stop the current leader and show heartbeat/election messages, then inspect /leader or /status.</a:t>
            </a:r>
            <a:endParaRPr sz="1400" b="0">
              <a:solidFill>
                <a:srgbClr val="202020"/>
              </a:solidFill>
              <a:latin typeface="Arial" panose="020B0604020202020204"/>
              <a:ea typeface="Arial" panose="020B0604020202020204"/>
              <a:cs typeface="Arial" panose="020B0604020202020204"/>
            </a:endParaRPr>
          </a:p>
        </p:txBody>
      </p:sp>
      <p:sp>
        <p:nvSpPr>
          <p:cNvPr id="7" name="Rectangle 6"/>
          <p:cNvSpPr>
            <a:spLocks noGrp="1"/>
          </p:cNvSpPr>
          <p:nvPr/>
        </p:nvSpPr>
        <p:spPr>
          <a:xfrm>
            <a:off x="523875" y="5286375"/>
            <a:ext cx="8096250" cy="666750"/>
          </a:xfrm>
          <a:prstGeom prst="rect">
            <a:avLst/>
          </a:prstGeom>
          <a:noFill/>
          <a:ln w="0">
            <a:noFill/>
            <a:prstDash val="solid"/>
          </a:ln>
        </p:spPr>
        <p:txBody>
          <a:bodyPr/>
          <a:lstStyle>
            <a:defPPr>
              <a:defRPr sz="1800" b="0">
                <a:solidFill>
                  <a:srgbClr val="202020"/>
                </a:solidFill>
                <a:latin typeface="Arial" panose="020B0604020202020204"/>
                <a:ea typeface="Arial" panose="020B0604020202020204"/>
                <a:cs typeface="Arial" panose="020B0604020202020204"/>
              </a:defRPr>
            </a:defPPr>
          </a:lstStyle>
          <a:p>
            <a:pPr>
              <a:defRPr sz="1800" b="0">
                <a:solidFill>
                  <a:srgbClr val="202020"/>
                </a:solidFill>
                <a:latin typeface="Arial" panose="020B0604020202020204"/>
                <a:ea typeface="Arial" panose="020B0604020202020204"/>
                <a:cs typeface="Arial" panose="020B0604020202020204"/>
              </a:defRPr>
            </a:pPr>
            <a:r>
              <a:rPr sz="1300" b="0">
                <a:solidFill>
                  <a:srgbClr val="202020"/>
                </a:solidFill>
                <a:latin typeface="Arial" panose="020B0604020202020204"/>
                <a:ea typeface="Arial" panose="020B0604020202020204"/>
                <a:cs typeface="Arial" panose="020B0604020202020204"/>
              </a:rPr>
              <a:t>Success criterion: expected recipients receive messages and the highest-ID reachable server becomes leader after a controlled election.</a:t>
            </a:r>
            <a:endParaRPr sz="1300" b="0">
              <a:solidFill>
                <a:srgbClr val="202020"/>
              </a:solidFill>
              <a:latin typeface="Arial" panose="020B0604020202020204"/>
              <a:ea typeface="Arial" panose="020B0604020202020204"/>
              <a:cs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creenshot 2026-10-17 132759"/>
          <p:cNvPicPr>
            <a:picLocks noChangeAspect="1"/>
          </p:cNvPicPr>
          <p:nvPr/>
        </p:nvPicPr>
        <p:blipFill>
          <a:blip r:embed="rId1"/>
          <a:stretch>
            <a:fillRect/>
          </a:stretch>
        </p:blipFill>
        <p:spPr>
          <a:xfrm>
            <a:off x="549275" y="196850"/>
            <a:ext cx="7785100" cy="3383280"/>
          </a:xfrm>
          <a:prstGeom prst="rect">
            <a:avLst/>
          </a:prstGeom>
        </p:spPr>
      </p:pic>
      <p:pic>
        <p:nvPicPr>
          <p:cNvPr id="3" name="Picture 2" descr="Screenshot 2026-10-17 132827"/>
          <p:cNvPicPr>
            <a:picLocks noChangeAspect="1"/>
          </p:cNvPicPr>
          <p:nvPr/>
        </p:nvPicPr>
        <p:blipFill>
          <a:blip r:embed="rId2"/>
          <a:stretch>
            <a:fillRect/>
          </a:stretch>
        </p:blipFill>
        <p:spPr>
          <a:xfrm>
            <a:off x="247650" y="3660140"/>
            <a:ext cx="8896350" cy="30473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creenshot 2026-10-17 132847"/>
          <p:cNvPicPr>
            <a:picLocks noChangeAspect="1"/>
          </p:cNvPicPr>
          <p:nvPr/>
        </p:nvPicPr>
        <p:blipFill>
          <a:blip r:embed="rId1"/>
          <a:stretch>
            <a:fillRect/>
          </a:stretch>
        </p:blipFill>
        <p:spPr>
          <a:xfrm>
            <a:off x="546735" y="476250"/>
            <a:ext cx="8121650" cy="2952750"/>
          </a:xfrm>
          <a:prstGeom prst="rect">
            <a:avLst/>
          </a:prstGeom>
        </p:spPr>
      </p:pic>
      <p:pic>
        <p:nvPicPr>
          <p:cNvPr id="3" name="Picture 2" descr="Screenshot 2026-10-17 133127"/>
          <p:cNvPicPr>
            <a:picLocks noChangeAspect="1"/>
          </p:cNvPicPr>
          <p:nvPr/>
        </p:nvPicPr>
        <p:blipFill>
          <a:blip r:embed="rId2"/>
          <a:stretch>
            <a:fillRect/>
          </a:stretch>
        </p:blipFill>
        <p:spPr>
          <a:xfrm>
            <a:off x="278130" y="3582035"/>
            <a:ext cx="8587105" cy="190309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creenshot 2026-10-17 133146"/>
          <p:cNvPicPr>
            <a:picLocks noChangeAspect="1"/>
          </p:cNvPicPr>
          <p:nvPr/>
        </p:nvPicPr>
        <p:blipFill>
          <a:blip r:embed="rId1"/>
          <a:stretch>
            <a:fillRect/>
          </a:stretch>
        </p:blipFill>
        <p:spPr>
          <a:xfrm>
            <a:off x="166370" y="979805"/>
            <a:ext cx="8811895" cy="46462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creenshot 2026-10-17 133239"/>
          <p:cNvPicPr>
            <a:picLocks noChangeAspect="1"/>
          </p:cNvPicPr>
          <p:nvPr/>
        </p:nvPicPr>
        <p:blipFill>
          <a:blip r:embed="rId1"/>
          <a:stretch>
            <a:fillRect/>
          </a:stretch>
        </p:blipFill>
        <p:spPr>
          <a:xfrm>
            <a:off x="224790" y="1088390"/>
            <a:ext cx="8659495" cy="44329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creenshot 2026-10-17 133247"/>
          <p:cNvPicPr>
            <a:picLocks noChangeAspect="1"/>
          </p:cNvPicPr>
          <p:nvPr/>
        </p:nvPicPr>
        <p:blipFill>
          <a:blip r:embed="rId1"/>
          <a:stretch>
            <a:fillRect/>
          </a:stretch>
        </p:blipFill>
        <p:spPr>
          <a:xfrm>
            <a:off x="143510" y="1066800"/>
            <a:ext cx="8856980" cy="47193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Grp="1"/>
          </p:cNvSpPr>
          <p:nvPr/>
        </p:nvSpPr>
        <p:spPr>
          <a:xfrm>
            <a:off x="523875" y="400050"/>
            <a:ext cx="8096250" cy="666750"/>
          </a:xfrm>
          <a:prstGeom prst="rect">
            <a:avLst/>
          </a:prstGeom>
          <a:noFill/>
          <a:ln w="0">
            <a:noFill/>
            <a:prstDash val="solid"/>
          </a:ln>
        </p:spPr>
        <p:txBody>
          <a:bodyPr/>
          <a:lstStyle>
            <a:defPPr>
              <a:defRPr sz="2550" b="1">
                <a:solidFill>
                  <a:srgbClr val="20375C"/>
                </a:solidFill>
                <a:latin typeface="Arial" panose="020B0604020202020204"/>
                <a:ea typeface="Arial" panose="020B0604020202020204"/>
                <a:cs typeface="Arial" panose="020B0604020202020204"/>
              </a:defRPr>
            </a:defPPr>
          </a:lstStyle>
          <a:p>
            <a:pPr algn="ctr">
              <a:defRPr sz="2550" b="1">
                <a:solidFill>
                  <a:srgbClr val="20375C"/>
                </a:solidFill>
                <a:latin typeface="Arial" panose="020B0604020202020204"/>
                <a:ea typeface="Arial" panose="020B0604020202020204"/>
                <a:cs typeface="Arial" panose="020B0604020202020204"/>
              </a:defRPr>
            </a:pPr>
            <a:r>
              <a:rPr sz="2550" b="1" dirty="0">
                <a:solidFill>
                  <a:srgbClr val="20375C"/>
                </a:solidFill>
                <a:latin typeface="Arial" panose="020B0604020202020204"/>
                <a:ea typeface="Arial" panose="020B0604020202020204"/>
                <a:cs typeface="Arial" panose="020B0604020202020204"/>
              </a:rPr>
              <a:t>Proposed Design and Tools</a:t>
            </a:r>
            <a:endParaRPr sz="2550" b="1" dirty="0">
              <a:solidFill>
                <a:srgbClr val="20375C"/>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523875" y="6315075"/>
            <a:ext cx="5905500" cy="238125"/>
          </a:xfrm>
          <a:prstGeom prst="rect">
            <a:avLst/>
          </a:prstGeom>
          <a:noFill/>
          <a:ln w="0">
            <a:noFill/>
            <a:prstDash val="solid"/>
          </a:ln>
        </p:spPr>
        <p:txBody>
          <a:bodyPr/>
          <a:lstStyle>
            <a:defPPr>
              <a:defRPr sz="1125" b="0">
                <a:solidFill>
                  <a:srgbClr val="555555"/>
                </a:solidFill>
                <a:latin typeface="Arial" panose="020B0604020202020204"/>
                <a:ea typeface="Arial" panose="020B0604020202020204"/>
                <a:cs typeface="Arial" panose="020B0604020202020204"/>
              </a:defRPr>
            </a:defPPr>
          </a:lstStyle>
          <a:p>
            <a:pPr>
              <a:defRPr sz="1125" b="0">
                <a:solidFill>
                  <a:srgbClr val="555555"/>
                </a:solidFill>
                <a:latin typeface="Arial" panose="020B0604020202020204"/>
                <a:ea typeface="Arial" panose="020B0604020202020204"/>
                <a:cs typeface="Arial" panose="020B0604020202020204"/>
              </a:defRPr>
            </a:pPr>
            <a:r>
              <a:rPr sz="1125" b="0">
                <a:solidFill>
                  <a:srgbClr val="555555"/>
                </a:solidFill>
                <a:latin typeface="Arial" panose="020B0604020202020204"/>
                <a:ea typeface="Arial" panose="020B0604020202020204"/>
                <a:cs typeface="Arial" panose="020B0604020202020204"/>
              </a:rPr>
              <a:t>Computer Networks Laboratory   CSE20110</a:t>
            </a:r>
            <a:endParaRPr sz="1125" b="0">
              <a:solidFill>
                <a:srgbClr val="555555"/>
              </a:solidFill>
              <a:latin typeface="Arial" panose="020B0604020202020204"/>
              <a:ea typeface="Arial" panose="020B0604020202020204"/>
              <a:cs typeface="Arial" panose="020B0604020202020204"/>
            </a:endParaRPr>
          </a:p>
        </p:txBody>
      </p:sp>
      <p:sp>
        <p:nvSpPr>
          <p:cNvPr id="3" name="Rectangle 2"/>
          <p:cNvSpPr>
            <a:spLocks noGrp="1"/>
          </p:cNvSpPr>
          <p:nvPr/>
        </p:nvSpPr>
        <p:spPr>
          <a:xfrm>
            <a:off x="6667500" y="6315075"/>
            <a:ext cx="1905000" cy="238125"/>
          </a:xfrm>
          <a:prstGeom prst="rect">
            <a:avLst/>
          </a:prstGeom>
          <a:noFill/>
          <a:ln w="0">
            <a:noFill/>
            <a:prstDash val="solid"/>
          </a:ln>
        </p:spPr>
        <p:txBody>
          <a:bodyPr/>
          <a:lstStyle>
            <a:defPPr>
              <a:defRPr sz="1125" b="0">
                <a:solidFill>
                  <a:srgbClr val="555555"/>
                </a:solidFill>
                <a:latin typeface="Arial" panose="020B0604020202020204"/>
                <a:ea typeface="Arial" panose="020B0604020202020204"/>
                <a:cs typeface="Arial" panose="020B0604020202020204"/>
              </a:defRPr>
            </a:defPPr>
          </a:lstStyle>
          <a:p>
            <a:pPr>
              <a:defRPr sz="1125" b="0">
                <a:solidFill>
                  <a:srgbClr val="555555"/>
                </a:solidFill>
                <a:latin typeface="Arial" panose="020B0604020202020204"/>
                <a:ea typeface="Arial" panose="020B0604020202020204"/>
                <a:cs typeface="Arial" panose="020B0604020202020204"/>
              </a:defRPr>
            </a:pPr>
            <a:r>
              <a:rPr sz="1125" b="0">
                <a:solidFill>
                  <a:srgbClr val="555555"/>
                </a:solidFill>
                <a:latin typeface="Arial" panose="020B0604020202020204"/>
                <a:ea typeface="Arial" panose="020B0604020202020204"/>
                <a:cs typeface="Arial" panose="020B0604020202020204"/>
              </a:rPr>
              <a:t>45 seconds</a:t>
            </a:r>
            <a:endParaRPr sz="1125" b="0">
              <a:solidFill>
                <a:srgbClr val="555555"/>
              </a:solidFill>
              <a:latin typeface="Arial" panose="020B0604020202020204"/>
              <a:ea typeface="Arial" panose="020B0604020202020204"/>
              <a:cs typeface="Arial" panose="020B0604020202020204"/>
            </a:endParaRPr>
          </a:p>
        </p:txBody>
      </p:sp>
      <p:sp>
        <p:nvSpPr>
          <p:cNvPr id="5" name="Rectangle 4"/>
          <p:cNvSpPr>
            <a:spLocks noGrp="1"/>
          </p:cNvSpPr>
          <p:nvPr/>
        </p:nvSpPr>
        <p:spPr>
          <a:xfrm>
            <a:off x="523875" y="4095750"/>
            <a:ext cx="8096250" cy="1476375"/>
          </a:xfrm>
          <a:prstGeom prst="rect">
            <a:avLst/>
          </a:prstGeom>
          <a:noFill/>
          <a:ln w="0">
            <a:noFill/>
            <a:prstDash val="solid"/>
          </a:ln>
        </p:spPr>
        <p:txBody>
          <a:bodyPr/>
          <a:lstStyle>
            <a:defPPr>
              <a:defRPr sz="1800" b="0">
                <a:solidFill>
                  <a:srgbClr val="202020"/>
                </a:solidFill>
                <a:latin typeface="Arial" panose="020B0604020202020204"/>
                <a:ea typeface="Arial" panose="020B0604020202020204"/>
                <a:cs typeface="Arial" panose="020B0604020202020204"/>
              </a:defRPr>
            </a:defPPr>
          </a:lstStyle>
          <a:p>
            <a:pPr algn="ctr">
              <a:defRPr sz="1800" b="0">
                <a:solidFill>
                  <a:srgbClr val="202020"/>
                </a:solidFill>
                <a:latin typeface="Arial" panose="020B0604020202020204"/>
                <a:ea typeface="Arial" panose="020B0604020202020204"/>
                <a:cs typeface="Arial" panose="020B0604020202020204"/>
              </a:defRPr>
            </a:pPr>
            <a:r>
              <a:rPr sz="1300" b="0" dirty="0">
                <a:solidFill>
                  <a:srgbClr val="202020"/>
                </a:solidFill>
                <a:latin typeface="Arial" panose="020B0604020202020204"/>
                <a:ea typeface="Arial" panose="020B0604020202020204"/>
                <a:cs typeface="Arial" panose="020B0604020202020204"/>
              </a:rPr>
              <a:t>Tools: Python 3.x, socket library, FastAPI/Uvicorn, HTML/CSS/JavaScript</a:t>
            </a:r>
            <a:endParaRPr sz="1300" b="0" dirty="0">
              <a:solidFill>
                <a:srgbClr val="202020"/>
              </a:solidFill>
              <a:latin typeface="Arial" panose="020B0604020202020204"/>
              <a:ea typeface="Arial" panose="020B0604020202020204"/>
              <a:cs typeface="Arial" panose="020B0604020202020204"/>
            </a:endParaRPr>
          </a:p>
          <a:p>
            <a:pPr algn="ctr">
              <a:defRPr sz="1800" b="0">
                <a:solidFill>
                  <a:srgbClr val="202020"/>
                </a:solidFill>
                <a:latin typeface="Arial" panose="020B0604020202020204"/>
                <a:ea typeface="Arial" panose="020B0604020202020204"/>
                <a:cs typeface="Arial" panose="020B0604020202020204"/>
              </a:defRPr>
            </a:pPr>
            <a:r>
              <a:rPr sz="1300" b="0" dirty="0">
                <a:solidFill>
                  <a:srgbClr val="202020"/>
                </a:solidFill>
                <a:latin typeface="Arial" panose="020B0604020202020204"/>
                <a:ea typeface="Arial" panose="020B0604020202020204"/>
                <a:cs typeface="Arial" panose="020B0604020202020204"/>
              </a:rPr>
              <a:t>Protocols: TCP for chat/peer links; WebSocket between browser and gateway</a:t>
            </a:r>
            <a:endParaRPr sz="1300" b="0" dirty="0">
              <a:solidFill>
                <a:srgbClr val="202020"/>
              </a:solidFill>
              <a:latin typeface="Arial" panose="020B0604020202020204"/>
              <a:ea typeface="Arial" panose="020B0604020202020204"/>
              <a:cs typeface="Arial" panose="020B0604020202020204"/>
            </a:endParaRPr>
          </a:p>
          <a:p>
            <a:pPr algn="ctr">
              <a:defRPr sz="1800" b="0">
                <a:solidFill>
                  <a:srgbClr val="202020"/>
                </a:solidFill>
                <a:latin typeface="Arial" panose="020B0604020202020204"/>
                <a:ea typeface="Arial" panose="020B0604020202020204"/>
                <a:cs typeface="Arial" panose="020B0604020202020204"/>
              </a:defRPr>
            </a:pPr>
            <a:r>
              <a:rPr sz="1300" b="0" dirty="0">
                <a:solidFill>
                  <a:srgbClr val="202020"/>
                </a:solidFill>
                <a:latin typeface="Arial" panose="020B0604020202020204"/>
                <a:ea typeface="Arial" panose="020B0604020202020204"/>
                <a:cs typeface="Arial" panose="020B0604020202020204"/>
              </a:rPr>
              <a:t>Ports: clients 5001–5003; peer servers 6001–6003; gateway 8000 (localhost)</a:t>
            </a:r>
            <a:endParaRPr sz="1300" b="0" dirty="0">
              <a:solidFill>
                <a:srgbClr val="202020"/>
              </a:solidFill>
              <a:latin typeface="Arial" panose="020B0604020202020204"/>
              <a:ea typeface="Arial" panose="020B0604020202020204"/>
              <a:cs typeface="Arial" panose="020B0604020202020204"/>
            </a:endParaRPr>
          </a:p>
        </p:txBody>
      </p:sp>
      <p:pic>
        <p:nvPicPr>
          <p:cNvPr id="7" name="Picture 6" descr="_project_architecture.png"/>
          <p:cNvPicPr>
            <a:picLocks noChangeAspect="1"/>
          </p:cNvPicPr>
          <p:nvPr/>
        </p:nvPicPr>
        <p:blipFill>
          <a:blip r:embed="rId1"/>
          <a:stretch>
            <a:fillRect/>
          </a:stretch>
        </p:blipFill>
        <p:spPr>
          <a:xfrm>
            <a:off x="523875" y="1428750"/>
            <a:ext cx="8096250" cy="22383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21207" y="310896"/>
            <a:ext cx="8092440" cy="438912"/>
          </a:xfrm>
          <a:prstGeom prst="rect">
            <a:avLst/>
          </a:prstGeom>
          <a:noFill/>
        </p:spPr>
        <p:txBody>
          <a:bodyPr wrap="none" lIns="18288" tIns="9144" rIns="18288" bIns="9144" anchor="ctr">
            <a:spAutoFit/>
          </a:bodyPr>
          <a:lstStyle/>
          <a:p>
            <a:pPr algn="ctr">
              <a:spcBef>
                <a:spcPts val="0"/>
              </a:spcBef>
              <a:spcAft>
                <a:spcPts val="0"/>
              </a:spcAft>
            </a:pPr>
            <a:r>
              <a:rPr sz="2300" b="1">
                <a:solidFill>
                  <a:srgbClr val="20375C"/>
                </a:solidFill>
                <a:latin typeface="Arial" panose="020B0604020202020204"/>
              </a:rPr>
              <a:t>Leader Election in Action</a:t>
            </a:r>
            <a:endParaRPr sz="2300" b="1">
              <a:solidFill>
                <a:srgbClr val="20375C"/>
              </a:solidFill>
              <a:latin typeface="Arial" panose="020B0604020202020204"/>
            </a:endParaRPr>
          </a:p>
        </p:txBody>
      </p:sp>
      <p:sp>
        <p:nvSpPr>
          <p:cNvPr id="3" name="TextBox 2"/>
          <p:cNvSpPr txBox="1"/>
          <p:nvPr/>
        </p:nvSpPr>
        <p:spPr>
          <a:xfrm>
            <a:off x="521207" y="749808"/>
            <a:ext cx="8092440" cy="274320"/>
          </a:xfrm>
          <a:prstGeom prst="rect">
            <a:avLst/>
          </a:prstGeom>
          <a:noFill/>
        </p:spPr>
        <p:txBody>
          <a:bodyPr wrap="none" lIns="18288" tIns="9144" rIns="18288" bIns="9144" anchor="ctr">
            <a:spAutoFit/>
          </a:bodyPr>
          <a:lstStyle/>
          <a:p>
            <a:pPr algn="ctr">
              <a:spcBef>
                <a:spcPts val="0"/>
              </a:spcBef>
              <a:spcAft>
                <a:spcPts val="0"/>
              </a:spcAft>
            </a:pPr>
            <a:r>
              <a:rPr sz="1150" b="0">
                <a:solidFill>
                  <a:srgbClr val="555555"/>
                </a:solidFill>
                <a:latin typeface="Arial" panose="020B0604020202020204"/>
              </a:rPr>
              <a:t>Bully algorithm: the highest-ID reachable server becomes coordinator</a:t>
            </a:r>
            <a:endParaRPr sz="1150" b="0">
              <a:solidFill>
                <a:srgbClr val="555555"/>
              </a:solidFill>
              <a:latin typeface="Arial" panose="020B0604020202020204"/>
            </a:endParaRPr>
          </a:p>
        </p:txBody>
      </p:sp>
      <p:sp>
        <p:nvSpPr>
          <p:cNvPr id="4" name="Rectangle 3"/>
          <p:cNvSpPr/>
          <p:nvPr/>
        </p:nvSpPr>
        <p:spPr>
          <a:xfrm>
            <a:off x="521207" y="1120139"/>
            <a:ext cx="41148" cy="201168"/>
          </a:xfrm>
          <a:prstGeom prst="rect">
            <a:avLst/>
          </a:prstGeom>
          <a:solidFill>
            <a:srgbClr val="3A60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7" y="1069848"/>
            <a:ext cx="3749040" cy="292608"/>
          </a:xfrm>
          <a:prstGeom prst="rect">
            <a:avLst/>
          </a:prstGeom>
          <a:noFill/>
        </p:spPr>
        <p:txBody>
          <a:bodyPr wrap="none" lIns="18288" tIns="9144" rIns="18288" bIns="9144" anchor="ctr">
            <a:spAutoFit/>
          </a:bodyPr>
          <a:lstStyle/>
          <a:p>
            <a:pPr algn="l">
              <a:spcBef>
                <a:spcPts val="0"/>
              </a:spcBef>
              <a:spcAft>
                <a:spcPts val="0"/>
              </a:spcAft>
            </a:pPr>
            <a:r>
              <a:rPr sz="1050" b="1">
                <a:solidFill>
                  <a:srgbClr val="20375C"/>
                </a:solidFill>
                <a:latin typeface="Arial" panose="020B0604020202020204"/>
              </a:rPr>
              <a:t>1  |  HEALTHY CLUSTER</a:t>
            </a:r>
            <a:endParaRPr sz="1050" b="1">
              <a:solidFill>
                <a:srgbClr val="20375C"/>
              </a:solidFill>
              <a:latin typeface="Arial" panose="020B0604020202020204"/>
            </a:endParaRPr>
          </a:p>
        </p:txBody>
      </p:sp>
      <p:sp>
        <p:nvSpPr>
          <p:cNvPr id="6" name="Rectangle 5"/>
          <p:cNvSpPr/>
          <p:nvPr/>
        </p:nvSpPr>
        <p:spPr>
          <a:xfrm>
            <a:off x="4782312" y="1120139"/>
            <a:ext cx="41148" cy="201168"/>
          </a:xfrm>
          <a:prstGeom prst="rect">
            <a:avLst/>
          </a:prstGeom>
          <a:solidFill>
            <a:srgbClr val="3A60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73752" y="1069848"/>
            <a:ext cx="3749040" cy="292608"/>
          </a:xfrm>
          <a:prstGeom prst="rect">
            <a:avLst/>
          </a:prstGeom>
          <a:noFill/>
        </p:spPr>
        <p:txBody>
          <a:bodyPr wrap="none" lIns="18288" tIns="9144" rIns="18288" bIns="9144" anchor="ctr">
            <a:spAutoFit/>
          </a:bodyPr>
          <a:lstStyle/>
          <a:p>
            <a:pPr algn="l">
              <a:spcBef>
                <a:spcPts val="0"/>
              </a:spcBef>
              <a:spcAft>
                <a:spcPts val="0"/>
              </a:spcAft>
            </a:pPr>
            <a:r>
              <a:rPr sz="1050" b="1">
                <a:solidFill>
                  <a:srgbClr val="20375C"/>
                </a:solidFill>
                <a:latin typeface="Arial" panose="020B0604020202020204"/>
              </a:rPr>
              <a:t>2  |  AFTER SERVER 3 FAILURE</a:t>
            </a:r>
            <a:endParaRPr sz="1050" b="1">
              <a:solidFill>
                <a:srgbClr val="20375C"/>
              </a:solidFill>
              <a:latin typeface="Arial" panose="020B0604020202020204"/>
            </a:endParaRPr>
          </a:p>
        </p:txBody>
      </p:sp>
      <p:pic>
        <p:nvPicPr>
          <p:cNvPr id="8" name="Picture 7" descr="Screenshot 2026-10-21 190319.png"/>
          <p:cNvPicPr>
            <a:picLocks noChangeAspect="1"/>
          </p:cNvPicPr>
          <p:nvPr/>
        </p:nvPicPr>
        <p:blipFill>
          <a:blip r:embed="rId1"/>
          <a:stretch>
            <a:fillRect/>
          </a:stretch>
        </p:blipFill>
        <p:spPr>
          <a:xfrm>
            <a:off x="521207" y="1354847"/>
            <a:ext cx="3840480" cy="1990321"/>
          </a:xfrm>
          <a:prstGeom prst="rect">
            <a:avLst/>
          </a:prstGeom>
        </p:spPr>
      </p:pic>
      <p:sp>
        <p:nvSpPr>
          <p:cNvPr id="9" name="Rectangle 8"/>
          <p:cNvSpPr/>
          <p:nvPr/>
        </p:nvSpPr>
        <p:spPr>
          <a:xfrm>
            <a:off x="521207" y="1354847"/>
            <a:ext cx="3840480" cy="1990321"/>
          </a:xfrm>
          <a:prstGeom prst="rect">
            <a:avLst/>
          </a:prstGeom>
          <a:no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creenshot 2026-10-21 190350.png"/>
          <p:cNvPicPr>
            <a:picLocks noChangeAspect="1"/>
          </p:cNvPicPr>
          <p:nvPr/>
        </p:nvPicPr>
        <p:blipFill>
          <a:blip r:embed="rId2"/>
          <a:stretch>
            <a:fillRect/>
          </a:stretch>
        </p:blipFill>
        <p:spPr>
          <a:xfrm>
            <a:off x="4794704" y="1353312"/>
            <a:ext cx="3815694" cy="1993392"/>
          </a:xfrm>
          <a:prstGeom prst="rect">
            <a:avLst/>
          </a:prstGeom>
        </p:spPr>
      </p:pic>
      <p:sp>
        <p:nvSpPr>
          <p:cNvPr id="11" name="Rectangle 10"/>
          <p:cNvSpPr/>
          <p:nvPr/>
        </p:nvSpPr>
        <p:spPr>
          <a:xfrm>
            <a:off x="4794704" y="1353312"/>
            <a:ext cx="3815694" cy="1993392"/>
          </a:xfrm>
          <a:prstGeom prst="rect">
            <a:avLst/>
          </a:prstGeom>
          <a:no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7" y="3346704"/>
            <a:ext cx="3840480" cy="274320"/>
          </a:xfrm>
          <a:prstGeom prst="rect">
            <a:avLst/>
          </a:prstGeom>
          <a:noFill/>
        </p:spPr>
        <p:txBody>
          <a:bodyPr wrap="none" lIns="18288" tIns="9144" rIns="18288" bIns="9144" anchor="ctr">
            <a:spAutoFit/>
          </a:bodyPr>
          <a:lstStyle/>
          <a:p>
            <a:pPr algn="ctr">
              <a:spcBef>
                <a:spcPts val="0"/>
              </a:spcBef>
              <a:spcAft>
                <a:spcPts val="0"/>
              </a:spcAft>
            </a:pPr>
            <a:r>
              <a:rPr sz="920" b="0">
                <a:solidFill>
                  <a:srgbClr val="202020"/>
                </a:solidFill>
                <a:latin typeface="Arial" panose="020B0604020202020204"/>
              </a:rPr>
              <a:t>Server 3 is coordinator; all 3 servers are alive.</a:t>
            </a:r>
            <a:endParaRPr sz="920" b="0">
              <a:solidFill>
                <a:srgbClr val="202020"/>
              </a:solidFill>
              <a:latin typeface="Arial" panose="020B0604020202020204"/>
            </a:endParaRPr>
          </a:p>
        </p:txBody>
      </p:sp>
      <p:sp>
        <p:nvSpPr>
          <p:cNvPr id="13" name="TextBox 12"/>
          <p:cNvSpPr txBox="1"/>
          <p:nvPr/>
        </p:nvSpPr>
        <p:spPr>
          <a:xfrm>
            <a:off x="4782312" y="3346704"/>
            <a:ext cx="3840480" cy="274320"/>
          </a:xfrm>
          <a:prstGeom prst="rect">
            <a:avLst/>
          </a:prstGeom>
          <a:noFill/>
        </p:spPr>
        <p:txBody>
          <a:bodyPr wrap="none" lIns="18288" tIns="9144" rIns="18288" bIns="9144" anchor="ctr">
            <a:spAutoFit/>
          </a:bodyPr>
          <a:lstStyle/>
          <a:p>
            <a:pPr algn="ctr">
              <a:spcBef>
                <a:spcPts val="0"/>
              </a:spcBef>
              <a:spcAft>
                <a:spcPts val="0"/>
              </a:spcAft>
            </a:pPr>
            <a:r>
              <a:rPr sz="920" b="0">
                <a:solidFill>
                  <a:srgbClr val="202020"/>
                </a:solidFill>
                <a:latin typeface="Arial" panose="020B0604020202020204"/>
              </a:rPr>
              <a:t>Server 3 is suspected down; Server 2 takes over.</a:t>
            </a:r>
            <a:endParaRPr sz="920" b="0">
              <a:solidFill>
                <a:srgbClr val="202020"/>
              </a:solidFill>
              <a:latin typeface="Arial" panose="020B0604020202020204"/>
            </a:endParaRPr>
          </a:p>
        </p:txBody>
      </p:sp>
      <p:sp>
        <p:nvSpPr>
          <p:cNvPr id="14" name="Rectangle 13"/>
          <p:cNvSpPr/>
          <p:nvPr/>
        </p:nvSpPr>
        <p:spPr>
          <a:xfrm>
            <a:off x="1078992" y="3735324"/>
            <a:ext cx="41148" cy="201168"/>
          </a:xfrm>
          <a:prstGeom prst="rect">
            <a:avLst/>
          </a:prstGeom>
          <a:solidFill>
            <a:srgbClr val="3A60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70432" y="3685032"/>
            <a:ext cx="6894576" cy="292608"/>
          </a:xfrm>
          <a:prstGeom prst="rect">
            <a:avLst/>
          </a:prstGeom>
          <a:noFill/>
        </p:spPr>
        <p:txBody>
          <a:bodyPr wrap="none" lIns="18288" tIns="9144" rIns="18288" bIns="9144" anchor="ctr">
            <a:spAutoFit/>
          </a:bodyPr>
          <a:lstStyle/>
          <a:p>
            <a:pPr algn="l">
              <a:spcBef>
                <a:spcPts val="0"/>
              </a:spcBef>
              <a:spcAft>
                <a:spcPts val="0"/>
              </a:spcAft>
            </a:pPr>
            <a:r>
              <a:rPr sz="1050" b="1">
                <a:solidFill>
                  <a:srgbClr val="20375C"/>
                </a:solidFill>
                <a:latin typeface="Arial" panose="020B0604020202020204"/>
              </a:rPr>
              <a:t>3  |  ELECTION CONSOLE TRACE</a:t>
            </a:r>
            <a:endParaRPr sz="1050" b="1">
              <a:solidFill>
                <a:srgbClr val="20375C"/>
              </a:solidFill>
              <a:latin typeface="Arial" panose="020B0604020202020204"/>
            </a:endParaRPr>
          </a:p>
        </p:txBody>
      </p:sp>
      <p:pic>
        <p:nvPicPr>
          <p:cNvPr id="16" name="Picture 15" descr="Screenshot 2026-10-21 190414.png"/>
          <p:cNvPicPr>
            <a:picLocks noChangeAspect="1"/>
          </p:cNvPicPr>
          <p:nvPr/>
        </p:nvPicPr>
        <p:blipFill>
          <a:blip r:embed="rId3"/>
          <a:stretch>
            <a:fillRect/>
          </a:stretch>
        </p:blipFill>
        <p:spPr>
          <a:xfrm>
            <a:off x="2235401" y="3986784"/>
            <a:ext cx="4673196" cy="1737360"/>
          </a:xfrm>
          <a:prstGeom prst="rect">
            <a:avLst/>
          </a:prstGeom>
        </p:spPr>
      </p:pic>
      <p:sp>
        <p:nvSpPr>
          <p:cNvPr id="17" name="Rectangle 16"/>
          <p:cNvSpPr/>
          <p:nvPr/>
        </p:nvSpPr>
        <p:spPr>
          <a:xfrm>
            <a:off x="2235401" y="3986784"/>
            <a:ext cx="4673196" cy="1737360"/>
          </a:xfrm>
          <a:prstGeom prst="rect">
            <a:avLst/>
          </a:prstGeom>
          <a:no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13232" y="5797296"/>
            <a:ext cx="7717536" cy="393192"/>
          </a:xfrm>
          <a:prstGeom prst="roundRect">
            <a:avLst/>
          </a:prstGeom>
          <a:solidFill>
            <a:srgbClr val="F2F6FB"/>
          </a:solidFill>
          <a:ln w="10160">
            <a:solidFill>
              <a:srgbClr val="DAE2EE"/>
            </a:solidFill>
          </a:ln>
        </p:spPr>
        <p:style>
          <a:lnRef idx="1">
            <a:schemeClr val="accent1"/>
          </a:lnRef>
          <a:fillRef idx="3">
            <a:schemeClr val="accent1"/>
          </a:fillRef>
          <a:effectRef idx="2">
            <a:schemeClr val="accent1"/>
          </a:effectRef>
          <a:fontRef idx="minor">
            <a:schemeClr val="lt1"/>
          </a:fontRef>
        </p:style>
        <p:txBody>
          <a:bodyPr lIns="146304" tIns="27432" rIns="146304" bIns="18288" rtlCol="0" anchor="ctr"/>
          <a:lstStyle/>
          <a:p>
            <a:pPr algn="ctr">
              <a:spcBef>
                <a:spcPts val="0"/>
              </a:spcBef>
              <a:spcAft>
                <a:spcPts val="0"/>
              </a:spcAft>
            </a:pPr>
            <a:r>
              <a:rPr sz="1130" b="1">
                <a:solidFill>
                  <a:srgbClr val="20375C"/>
                </a:solidFill>
                <a:latin typeface="Arial" panose="020B0604020202020204"/>
              </a:rPr>
              <a:t>Heartbeat timeout  →  election starts  →  Server 2 is announced as leader</a:t>
            </a:r>
            <a:endParaRPr sz="1130" b="1">
              <a:solidFill>
                <a:srgbClr val="20375C"/>
              </a:solidFill>
              <a:latin typeface="Arial" panose="020B0604020202020204"/>
            </a:endParaRPr>
          </a:p>
        </p:txBody>
      </p:sp>
      <p:sp>
        <p:nvSpPr>
          <p:cNvPr id="19" name="TextBox 18"/>
          <p:cNvSpPr txBox="1"/>
          <p:nvPr/>
        </p:nvSpPr>
        <p:spPr>
          <a:xfrm>
            <a:off x="521207" y="6318504"/>
            <a:ext cx="5907024" cy="237744"/>
          </a:xfrm>
          <a:prstGeom prst="rect">
            <a:avLst/>
          </a:prstGeom>
          <a:noFill/>
        </p:spPr>
        <p:txBody>
          <a:bodyPr wrap="none" lIns="18288" tIns="9144" rIns="18288" bIns="9144" anchor="ctr">
            <a:spAutoFit/>
          </a:bodyPr>
          <a:lstStyle/>
          <a:p>
            <a:pPr algn="l">
              <a:spcBef>
                <a:spcPts val="0"/>
              </a:spcBef>
              <a:spcAft>
                <a:spcPts val="0"/>
              </a:spcAft>
            </a:pPr>
            <a:r>
              <a:rPr sz="1125" b="0">
                <a:solidFill>
                  <a:srgbClr val="555555"/>
                </a:solidFill>
                <a:latin typeface="Arial" panose="020B0604020202020204"/>
              </a:rPr>
              <a:t>Computer Networks Laboratory   CSE20110</a:t>
            </a:r>
            <a:endParaRPr sz="1125" b="0">
              <a:solidFill>
                <a:srgbClr val="555555"/>
              </a:solidFill>
              <a:latin typeface="Arial" panose="020B0604020202020204"/>
            </a:endParaRPr>
          </a:p>
        </p:txBody>
      </p:sp>
      <p:sp>
        <p:nvSpPr>
          <p:cNvPr id="20" name="TextBox 19"/>
          <p:cNvSpPr txBox="1"/>
          <p:nvPr/>
        </p:nvSpPr>
        <p:spPr>
          <a:xfrm>
            <a:off x="6665976" y="6318504"/>
            <a:ext cx="1901952" cy="237744"/>
          </a:xfrm>
          <a:prstGeom prst="rect">
            <a:avLst/>
          </a:prstGeom>
          <a:noFill/>
        </p:spPr>
        <p:txBody>
          <a:bodyPr wrap="none" lIns="18288" tIns="9144" rIns="18288" bIns="9144" anchor="ctr">
            <a:spAutoFit/>
          </a:bodyPr>
          <a:lstStyle/>
          <a:p>
            <a:pPr algn="r">
              <a:spcBef>
                <a:spcPts val="0"/>
              </a:spcBef>
              <a:spcAft>
                <a:spcPts val="0"/>
              </a:spcAft>
            </a:pPr>
            <a:r>
              <a:rPr sz="1125" b="0">
                <a:solidFill>
                  <a:srgbClr val="555555"/>
                </a:solidFill>
                <a:latin typeface="Arial" panose="020B0604020202020204"/>
              </a:rPr>
              <a:t>45 seconds</a:t>
            </a:r>
            <a:endParaRPr sz="1125" b="0">
              <a:solidFill>
                <a:srgbClr val="555555"/>
              </a:solidFill>
              <a:latin typeface="Arial" panose="020B0604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048000" y="543560"/>
            <a:ext cx="3048000" cy="460375"/>
          </a:xfrm>
          <a:prstGeom prst="rect">
            <a:avLst/>
          </a:prstGeom>
          <a:noFill/>
        </p:spPr>
        <p:txBody>
          <a:bodyPr wrap="square" rtlCol="0">
            <a:spAutoFit/>
          </a:bodyPr>
          <a:p>
            <a:r>
              <a:rPr lang="en-US" sz="2400" b="1"/>
              <a:t>Leader Election</a:t>
            </a:r>
            <a:endParaRPr lang="en-US" sz="2400" b="1"/>
          </a:p>
        </p:txBody>
      </p:sp>
      <p:sp>
        <p:nvSpPr>
          <p:cNvPr id="3" name="Text Box 2"/>
          <p:cNvSpPr txBox="1"/>
          <p:nvPr/>
        </p:nvSpPr>
        <p:spPr>
          <a:xfrm>
            <a:off x="377825" y="1102995"/>
            <a:ext cx="8388350" cy="4246245"/>
          </a:xfrm>
          <a:prstGeom prst="rect">
            <a:avLst/>
          </a:prstGeom>
        </p:spPr>
        <p:txBody>
          <a:bodyPr wrap="square">
            <a:spAutoFit/>
          </a:bodyPr>
          <a:p>
            <a:r>
              <a:t>Our program uses the Bully Leader Election Algorithmto select a coordinator among three servers (Server 1, Server 2, and Server 3). </a:t>
            </a:r>
          </a:p>
          <a:p/>
          <a:p>
            <a:r>
              <a:t>Each server sends periodic heartbeat messages to check whether the other servers are responsive. If a server does not respond within the timeout period, it is marked as suspected down, and an election is initiated.</a:t>
            </a:r>
          </a:p>
          <a:p/>
          <a:p>
            <a:r>
              <a:t>The algorithm prioritizes the server with the highest ID among the reachable servers, so Server 3 is normally the leader when all three servers are active. If Server 3 fails, the remaining servers conduct an election and Server 2 becomes the new leader. </a:t>
            </a:r>
          </a:p>
          <a:p/>
          <a:p>
            <a:r>
              <a:t>The elected leader coordinates global username registration and directory updates, helping the distributed chat system maintain coordination when server failures occur.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21335" y="593090"/>
            <a:ext cx="4572000" cy="306705"/>
          </a:xfrm>
          <a:prstGeom prst="rect">
            <a:avLst/>
          </a:prstGeom>
          <a:noFill/>
        </p:spPr>
        <p:txBody>
          <a:bodyPr wrap="square" rtlCol="0" anchor="t">
            <a:spAutoFit/>
          </a:bodyPr>
          <a:p>
            <a:pPr algn="l">
              <a:spcBef>
                <a:spcPts val="0"/>
              </a:spcBef>
              <a:spcAft>
                <a:spcPts val="0"/>
              </a:spcAft>
            </a:pPr>
            <a:r>
              <a:rPr sz="1400" b="1">
                <a:solidFill>
                  <a:srgbClr val="20375C"/>
                </a:solidFill>
                <a:latin typeface="Arial" panose="020B0604020202020204"/>
                <a:sym typeface="+mn-ea"/>
              </a:rPr>
              <a:t>1  |  HEALTHY CLUSTER</a:t>
            </a:r>
            <a:endParaRPr lang="en-US" sz="1400" b="1">
              <a:solidFill>
                <a:srgbClr val="20375C"/>
              </a:solidFill>
              <a:latin typeface="Arial" panose="020B0604020202020204"/>
              <a:sym typeface="+mn-ea"/>
            </a:endParaRPr>
          </a:p>
        </p:txBody>
      </p:sp>
      <p:pic>
        <p:nvPicPr>
          <p:cNvPr id="8" name="Picture 7" descr="Screenshot 2026-10-21 190319.png"/>
          <p:cNvPicPr>
            <a:picLocks noChangeAspect="1"/>
          </p:cNvPicPr>
          <p:nvPr/>
        </p:nvPicPr>
        <p:blipFill>
          <a:blip r:embed="rId1"/>
          <a:stretch>
            <a:fillRect/>
          </a:stretch>
        </p:blipFill>
        <p:spPr>
          <a:xfrm>
            <a:off x="521335" y="1355090"/>
            <a:ext cx="8065135" cy="46456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61695" y="723265"/>
            <a:ext cx="4572000" cy="306705"/>
          </a:xfrm>
          <a:prstGeom prst="rect">
            <a:avLst/>
          </a:prstGeom>
          <a:noFill/>
        </p:spPr>
        <p:txBody>
          <a:bodyPr wrap="square" rtlCol="0" anchor="t">
            <a:spAutoFit/>
          </a:bodyPr>
          <a:p>
            <a:pPr algn="l">
              <a:spcBef>
                <a:spcPts val="0"/>
              </a:spcBef>
              <a:spcAft>
                <a:spcPts val="0"/>
              </a:spcAft>
            </a:pPr>
            <a:r>
              <a:rPr sz="1400" b="1">
                <a:solidFill>
                  <a:srgbClr val="20375C"/>
                </a:solidFill>
                <a:latin typeface="Arial" panose="020B0604020202020204"/>
                <a:sym typeface="+mn-ea"/>
              </a:rPr>
              <a:t>2  |  AFTER SERVER 3 FAILURE</a:t>
            </a:r>
            <a:endParaRPr lang="en-US" sz="1400" b="1">
              <a:solidFill>
                <a:srgbClr val="20375C"/>
              </a:solidFill>
              <a:latin typeface="Arial" panose="020B0604020202020204"/>
              <a:sym typeface="+mn-ea"/>
            </a:endParaRPr>
          </a:p>
        </p:txBody>
      </p:sp>
      <p:pic>
        <p:nvPicPr>
          <p:cNvPr id="10" name="Picture 9" descr="Screenshot 2026-10-21 190350.png"/>
          <p:cNvPicPr>
            <a:picLocks noChangeAspect="1"/>
          </p:cNvPicPr>
          <p:nvPr/>
        </p:nvPicPr>
        <p:blipFill>
          <a:blip r:embed="rId1"/>
          <a:stretch>
            <a:fillRect/>
          </a:stretch>
        </p:blipFill>
        <p:spPr>
          <a:xfrm>
            <a:off x="861695" y="1242695"/>
            <a:ext cx="7618730" cy="398018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61695" y="602615"/>
            <a:ext cx="4572000" cy="306705"/>
          </a:xfrm>
          <a:prstGeom prst="rect">
            <a:avLst/>
          </a:prstGeom>
          <a:noFill/>
        </p:spPr>
        <p:txBody>
          <a:bodyPr wrap="square" rtlCol="0" anchor="t">
            <a:spAutoFit/>
          </a:bodyPr>
          <a:p>
            <a:pPr algn="l">
              <a:spcBef>
                <a:spcPts val="0"/>
              </a:spcBef>
              <a:spcAft>
                <a:spcPts val="0"/>
              </a:spcAft>
            </a:pPr>
            <a:r>
              <a:rPr sz="1400" b="1">
                <a:solidFill>
                  <a:srgbClr val="20375C"/>
                </a:solidFill>
                <a:latin typeface="Arial" panose="020B0604020202020204"/>
                <a:sym typeface="+mn-ea"/>
              </a:rPr>
              <a:t>3  |  ELECTION CONSOLE TRACE</a:t>
            </a:r>
            <a:endParaRPr lang="en-US" sz="1400" b="1">
              <a:solidFill>
                <a:srgbClr val="20375C"/>
              </a:solidFill>
              <a:latin typeface="Arial" panose="020B0604020202020204"/>
              <a:sym typeface="+mn-ea"/>
            </a:endParaRPr>
          </a:p>
        </p:txBody>
      </p:sp>
      <p:pic>
        <p:nvPicPr>
          <p:cNvPr id="16" name="Picture 15" descr="Screenshot 2026-10-21 190414.png"/>
          <p:cNvPicPr>
            <a:picLocks noChangeAspect="1"/>
          </p:cNvPicPr>
          <p:nvPr/>
        </p:nvPicPr>
        <p:blipFill>
          <a:blip r:embed="rId1"/>
          <a:stretch>
            <a:fillRect/>
          </a:stretch>
        </p:blipFill>
        <p:spPr>
          <a:xfrm>
            <a:off x="861695" y="1764665"/>
            <a:ext cx="7005955" cy="260477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p:cNvSpPr>
          <p:nvPr/>
        </p:nvSpPr>
        <p:spPr>
          <a:xfrm>
            <a:off x="523875" y="400050"/>
            <a:ext cx="8096250" cy="666750"/>
          </a:xfrm>
          <a:prstGeom prst="rect">
            <a:avLst/>
          </a:prstGeom>
          <a:noFill/>
          <a:ln w="0">
            <a:noFill/>
            <a:prstDash val="solid"/>
          </a:ln>
        </p:spPr>
        <p:txBody>
          <a:bodyPr/>
          <a:lstStyle>
            <a:defPPr>
              <a:defRPr sz="2550" b="1">
                <a:solidFill>
                  <a:srgbClr val="20375C"/>
                </a:solidFill>
                <a:latin typeface="Arial" panose="020B0604020202020204"/>
                <a:ea typeface="Arial" panose="020B0604020202020204"/>
                <a:cs typeface="Arial" panose="020B0604020202020204"/>
              </a:defRPr>
            </a:defPPr>
          </a:lstStyle>
          <a:p>
            <a:pPr algn="ctr">
              <a:defRPr sz="2550" b="1">
                <a:solidFill>
                  <a:srgbClr val="20375C"/>
                </a:solidFill>
                <a:latin typeface="Arial" panose="020B0604020202020204"/>
                <a:ea typeface="Arial" panose="020B0604020202020204"/>
                <a:cs typeface="Arial" panose="020B0604020202020204"/>
              </a:defRPr>
            </a:pPr>
            <a:r>
              <a:rPr sz="2550" b="1" dirty="0">
                <a:solidFill>
                  <a:srgbClr val="20375C"/>
                </a:solidFill>
                <a:latin typeface="Arial" panose="020B0604020202020204"/>
                <a:ea typeface="Arial" panose="020B0604020202020204"/>
                <a:cs typeface="Arial" panose="020B0604020202020204"/>
              </a:rPr>
              <a:t>Conclusion and Contributions</a:t>
            </a:r>
            <a:endParaRPr sz="2550" b="1" dirty="0">
              <a:solidFill>
                <a:srgbClr val="20375C"/>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523875" y="6315075"/>
            <a:ext cx="5905500" cy="238125"/>
          </a:xfrm>
          <a:prstGeom prst="rect">
            <a:avLst/>
          </a:prstGeom>
          <a:noFill/>
          <a:ln w="0">
            <a:noFill/>
            <a:prstDash val="solid"/>
          </a:ln>
        </p:spPr>
        <p:txBody>
          <a:bodyPr/>
          <a:lstStyle>
            <a:defPPr>
              <a:defRPr sz="1125" b="0">
                <a:solidFill>
                  <a:srgbClr val="555555"/>
                </a:solidFill>
                <a:latin typeface="Arial" panose="020B0604020202020204"/>
                <a:ea typeface="Arial" panose="020B0604020202020204"/>
                <a:cs typeface="Arial" panose="020B0604020202020204"/>
              </a:defRPr>
            </a:defPPr>
          </a:lstStyle>
          <a:p>
            <a:pPr>
              <a:defRPr sz="1125" b="0">
                <a:solidFill>
                  <a:srgbClr val="555555"/>
                </a:solidFill>
                <a:latin typeface="Arial" panose="020B0604020202020204"/>
                <a:ea typeface="Arial" panose="020B0604020202020204"/>
                <a:cs typeface="Arial" panose="020B0604020202020204"/>
              </a:defRPr>
            </a:pPr>
            <a:r>
              <a:rPr sz="1125" b="0">
                <a:solidFill>
                  <a:srgbClr val="555555"/>
                </a:solidFill>
                <a:latin typeface="Arial" panose="020B0604020202020204"/>
                <a:ea typeface="Arial" panose="020B0604020202020204"/>
                <a:cs typeface="Arial" panose="020B0604020202020204"/>
              </a:rPr>
              <a:t>Computer Networks Laboratory   CSE20110</a:t>
            </a:r>
            <a:endParaRPr sz="1125" b="0">
              <a:solidFill>
                <a:srgbClr val="555555"/>
              </a:solidFill>
              <a:latin typeface="Arial" panose="020B0604020202020204"/>
              <a:ea typeface="Arial" panose="020B0604020202020204"/>
              <a:cs typeface="Arial" panose="020B0604020202020204"/>
            </a:endParaRPr>
          </a:p>
        </p:txBody>
      </p:sp>
      <p:sp>
        <p:nvSpPr>
          <p:cNvPr id="3" name="Rectangle 2"/>
          <p:cNvSpPr>
            <a:spLocks noGrp="1"/>
          </p:cNvSpPr>
          <p:nvPr/>
        </p:nvSpPr>
        <p:spPr>
          <a:xfrm>
            <a:off x="6667500" y="6315075"/>
            <a:ext cx="1905000" cy="238125"/>
          </a:xfrm>
          <a:prstGeom prst="rect">
            <a:avLst/>
          </a:prstGeom>
          <a:noFill/>
          <a:ln w="0">
            <a:noFill/>
            <a:prstDash val="solid"/>
          </a:ln>
        </p:spPr>
        <p:txBody>
          <a:bodyPr/>
          <a:lstStyle>
            <a:defPPr>
              <a:defRPr sz="1125" b="0">
                <a:solidFill>
                  <a:srgbClr val="555555"/>
                </a:solidFill>
                <a:latin typeface="Arial" panose="020B0604020202020204"/>
                <a:ea typeface="Arial" panose="020B0604020202020204"/>
                <a:cs typeface="Arial" panose="020B0604020202020204"/>
              </a:defRPr>
            </a:defPPr>
          </a:lstStyle>
          <a:p>
            <a:pPr>
              <a:defRPr sz="1125" b="0">
                <a:solidFill>
                  <a:srgbClr val="555555"/>
                </a:solidFill>
                <a:latin typeface="Arial" panose="020B0604020202020204"/>
                <a:ea typeface="Arial" panose="020B0604020202020204"/>
                <a:cs typeface="Arial" panose="020B0604020202020204"/>
              </a:defRPr>
            </a:pPr>
            <a:r>
              <a:rPr sz="1125" b="0">
                <a:solidFill>
                  <a:srgbClr val="555555"/>
                </a:solidFill>
                <a:latin typeface="Arial" panose="020B0604020202020204"/>
                <a:ea typeface="Arial" panose="020B0604020202020204"/>
                <a:cs typeface="Arial" panose="020B0604020202020204"/>
              </a:rPr>
              <a:t>30 seconds</a:t>
            </a:r>
            <a:endParaRPr sz="1125" b="0">
              <a:solidFill>
                <a:srgbClr val="555555"/>
              </a:solidFill>
              <a:latin typeface="Arial" panose="020B0604020202020204"/>
              <a:ea typeface="Arial" panose="020B0604020202020204"/>
              <a:cs typeface="Arial" panose="020B0604020202020204"/>
            </a:endParaRPr>
          </a:p>
        </p:txBody>
      </p:sp>
      <p:sp>
        <p:nvSpPr>
          <p:cNvPr id="4" name="Rectangle 3"/>
          <p:cNvSpPr>
            <a:spLocks noGrp="1"/>
          </p:cNvSpPr>
          <p:nvPr/>
        </p:nvSpPr>
        <p:spPr>
          <a:xfrm>
            <a:off x="523875" y="1381125"/>
            <a:ext cx="8096250" cy="2000250"/>
          </a:xfrm>
          <a:prstGeom prst="rect">
            <a:avLst/>
          </a:prstGeom>
          <a:noFill/>
          <a:ln w="0">
            <a:noFill/>
            <a:prstDash val="solid"/>
          </a:ln>
        </p:spPr>
        <p:txBody>
          <a:bodyPr/>
          <a:lstStyle>
            <a:defPPr>
              <a:defRPr sz="1875" b="0">
                <a:solidFill>
                  <a:srgbClr val="202020"/>
                </a:solidFill>
                <a:latin typeface="Arial" panose="020B0604020202020204"/>
                <a:ea typeface="Arial" panose="020B0604020202020204"/>
                <a:cs typeface="Arial" panose="020B0604020202020204"/>
              </a:defRPr>
            </a:defPPr>
          </a:lstStyle>
          <a:p>
            <a:pPr>
              <a:defRPr sz="1875" b="0">
                <a:solidFill>
                  <a:srgbClr val="202020"/>
                </a:solidFill>
                <a:latin typeface="Arial" panose="020B0604020202020204"/>
                <a:ea typeface="Arial" panose="020B0604020202020204"/>
                <a:cs typeface="Arial" panose="020B0604020202020204"/>
              </a:defRPr>
            </a:pPr>
            <a:r>
              <a:rPr sz="1420" b="0">
                <a:solidFill>
                  <a:srgbClr val="202020"/>
                </a:solidFill>
                <a:latin typeface="Arial" panose="020B0604020202020204"/>
                <a:ea typeface="Arial" panose="020B0604020202020204"/>
                <a:cs typeface="Arial" panose="020B0604020202020204"/>
              </a:rPr>
              <a:t>Outcome: three-server TCP chat prototype with global/private messages and coordinator election.</a:t>
            </a:r>
            <a:endParaRPr sz="1420" b="0">
              <a:solidFill>
                <a:srgbClr val="202020"/>
              </a:solidFill>
              <a:latin typeface="Arial" panose="020B0604020202020204"/>
              <a:ea typeface="Arial" panose="020B0604020202020204"/>
              <a:cs typeface="Arial" panose="020B0604020202020204"/>
            </a:endParaRPr>
          </a:p>
          <a:p>
            <a:pPr>
              <a:defRPr sz="1875" b="0">
                <a:solidFill>
                  <a:srgbClr val="202020"/>
                </a:solidFill>
                <a:latin typeface="Arial" panose="020B0604020202020204"/>
                <a:ea typeface="Arial" panose="020B0604020202020204"/>
                <a:cs typeface="Arial" panose="020B0604020202020204"/>
              </a:defRPr>
            </a:pPr>
            <a:r>
              <a:rPr sz="1420" b="0">
                <a:solidFill>
                  <a:srgbClr val="202020"/>
                </a:solidFill>
                <a:latin typeface="Arial" panose="020B0604020202020204"/>
                <a:ea typeface="Arial" panose="020B0604020202020204"/>
                <a:cs typeface="Arial" panose="020B0604020202020204"/>
              </a:rPr>
              <a:t>Application: teaching demo for LAN collaboration and distributed systems.</a:t>
            </a:r>
            <a:endParaRPr sz="1420" b="0">
              <a:solidFill>
                <a:srgbClr val="202020"/>
              </a:solidFill>
              <a:latin typeface="Arial" panose="020B0604020202020204"/>
              <a:ea typeface="Arial" panose="020B0604020202020204"/>
              <a:cs typeface="Arial" panose="020B0604020202020204"/>
            </a:endParaRPr>
          </a:p>
          <a:p>
            <a:pPr>
              <a:defRPr sz="1875" b="0">
                <a:solidFill>
                  <a:srgbClr val="202020"/>
                </a:solidFill>
                <a:latin typeface="Arial" panose="020B0604020202020204"/>
                <a:ea typeface="Arial" panose="020B0604020202020204"/>
                <a:cs typeface="Arial" panose="020B0604020202020204"/>
              </a:defRPr>
            </a:pPr>
            <a:r>
              <a:rPr sz="1420" b="0">
                <a:solidFill>
                  <a:srgbClr val="202020"/>
                </a:solidFill>
                <a:latin typeface="Arial" panose="020B0604020202020204"/>
                <a:ea typeface="Arial" panose="020B0604020202020204"/>
                <a:cs typeface="Arial" panose="020B0604020202020204"/>
              </a:rPr>
              <a:t>Limitation: in-memory directory; clients on a failed server may disconnect.</a:t>
            </a:r>
            <a:endParaRPr sz="1420" b="0">
              <a:solidFill>
                <a:srgbClr val="202020"/>
              </a:solidFill>
              <a:latin typeface="Arial" panose="020B0604020202020204"/>
              <a:ea typeface="Arial" panose="020B0604020202020204"/>
              <a:cs typeface="Arial" panose="020B0604020202020204"/>
            </a:endParaRPr>
          </a:p>
          <a:p>
            <a:pPr>
              <a:defRPr sz="1875" b="0">
                <a:solidFill>
                  <a:srgbClr val="202020"/>
                </a:solidFill>
                <a:latin typeface="Arial" panose="020B0604020202020204"/>
                <a:ea typeface="Arial" panose="020B0604020202020204"/>
                <a:cs typeface="Arial" panose="020B0604020202020204"/>
              </a:defRPr>
            </a:pPr>
            <a:r>
              <a:rPr sz="1420" b="0">
                <a:solidFill>
                  <a:srgbClr val="202020"/>
                </a:solidFill>
                <a:latin typeface="Arial" panose="020B0604020202020204"/>
                <a:ea typeface="Arial" panose="020B0604020202020204"/>
                <a:cs typeface="Arial" panose="020B0604020202020204"/>
              </a:rPr>
              <a:t>Future scope: persistence, state transfer, reconnection and automated integration tests.</a:t>
            </a:r>
            <a:endParaRPr sz="1420" b="0">
              <a:solidFill>
                <a:srgbClr val="202020"/>
              </a:solidFill>
              <a:latin typeface="Arial" panose="020B0604020202020204"/>
              <a:ea typeface="Arial" panose="020B0604020202020204"/>
              <a:cs typeface="Arial" panose="020B0604020202020204"/>
            </a:endParaRPr>
          </a:p>
        </p:txBody>
      </p:sp>
      <p:sp>
        <p:nvSpPr>
          <p:cNvPr id="5" name="Rectangle 4"/>
          <p:cNvSpPr>
            <a:spLocks noGrp="1"/>
          </p:cNvSpPr>
          <p:nvPr/>
        </p:nvSpPr>
        <p:spPr>
          <a:xfrm>
            <a:off x="523875" y="3881120"/>
            <a:ext cx="8096250" cy="1000125"/>
          </a:xfrm>
          <a:prstGeom prst="rect">
            <a:avLst/>
          </a:prstGeom>
          <a:noFill/>
          <a:ln w="0">
            <a:noFill/>
            <a:prstDash val="solid"/>
          </a:ln>
        </p:spPr>
        <p:txBody>
          <a:bodyPr/>
          <a:lstStyle>
            <a:defPPr>
              <a:defRPr sz="1650" b="0">
                <a:solidFill>
                  <a:srgbClr val="202020"/>
                </a:solidFill>
                <a:latin typeface="Arial" panose="020B0604020202020204"/>
                <a:ea typeface="Arial" panose="020B0604020202020204"/>
                <a:cs typeface="Arial" panose="020B0604020202020204"/>
              </a:defRPr>
            </a:defPPr>
          </a:lstStyle>
          <a:p>
            <a:pPr>
              <a:defRPr sz="1650" b="0">
                <a:solidFill>
                  <a:srgbClr val="202020"/>
                </a:solidFill>
                <a:latin typeface="Arial" panose="020B0604020202020204"/>
                <a:ea typeface="Arial" panose="020B0604020202020204"/>
                <a:cs typeface="Arial" panose="020B0604020202020204"/>
              </a:defRPr>
            </a:pPr>
            <a:r>
              <a:rPr lang="en-IN" sz="1220" b="0" dirty="0">
                <a:solidFill>
                  <a:srgbClr val="202020"/>
                </a:solidFill>
                <a:latin typeface="Arial" panose="020B0604020202020204"/>
                <a:ea typeface="Arial" panose="020B0604020202020204"/>
                <a:cs typeface="Arial" panose="020B0604020202020204"/>
              </a:rPr>
              <a:t>Raunak Yadav-Server Logic,Testing</a:t>
            </a:r>
            <a:r>
              <a:rPr lang="en-US" altLang="en-IN" sz="1220" b="0" dirty="0">
                <a:solidFill>
                  <a:srgbClr val="202020"/>
                </a:solidFill>
                <a:latin typeface="Arial" panose="020B0604020202020204"/>
                <a:ea typeface="Arial" panose="020B0604020202020204"/>
                <a:cs typeface="Arial" panose="020B0604020202020204"/>
              </a:rPr>
              <a:t>,</a:t>
            </a:r>
            <a:r>
              <a:rPr lang="en-IN" sz="1220" dirty="0">
                <a:sym typeface="+mn-ea"/>
              </a:rPr>
              <a:t>Ideation of project</a:t>
            </a:r>
            <a:endParaRPr lang="en-IN" sz="1220" b="0" dirty="0">
              <a:solidFill>
                <a:srgbClr val="202020"/>
              </a:solidFill>
              <a:latin typeface="Arial" panose="020B0604020202020204"/>
              <a:ea typeface="Arial" panose="020B0604020202020204"/>
              <a:cs typeface="Arial" panose="020B0604020202020204"/>
            </a:endParaRPr>
          </a:p>
          <a:p>
            <a:pPr>
              <a:defRPr sz="1650" b="0">
                <a:solidFill>
                  <a:srgbClr val="202020"/>
                </a:solidFill>
                <a:latin typeface="Arial" panose="020B0604020202020204"/>
                <a:ea typeface="Arial" panose="020B0604020202020204"/>
                <a:cs typeface="Arial" panose="020B0604020202020204"/>
              </a:defRPr>
            </a:pPr>
            <a:r>
              <a:rPr lang="en-IN" sz="1220" b="0" dirty="0">
                <a:solidFill>
                  <a:srgbClr val="202020"/>
                </a:solidFill>
                <a:latin typeface="Arial" panose="020B0604020202020204"/>
                <a:ea typeface="Arial" panose="020B0604020202020204"/>
                <a:cs typeface="Arial" panose="020B0604020202020204"/>
              </a:rPr>
              <a:t>Chinmay Kulkarni - UI design,Testing</a:t>
            </a:r>
            <a:r>
              <a:rPr lang="en-IN" sz="1220" dirty="0">
                <a:sym typeface="+mn-ea"/>
              </a:rPr>
              <a:t>,Report Work</a:t>
            </a:r>
            <a:endParaRPr lang="en-IN" sz="1220" b="0" dirty="0">
              <a:solidFill>
                <a:srgbClr val="202020"/>
              </a:solidFill>
              <a:latin typeface="Arial" panose="020B0604020202020204"/>
              <a:ea typeface="Arial" panose="020B0604020202020204"/>
              <a:cs typeface="Arial" panose="020B0604020202020204"/>
            </a:endParaRPr>
          </a:p>
          <a:p>
            <a:pPr>
              <a:defRPr sz="1650" b="0">
                <a:solidFill>
                  <a:srgbClr val="202020"/>
                </a:solidFill>
                <a:latin typeface="Arial" panose="020B0604020202020204"/>
                <a:ea typeface="Arial" panose="020B0604020202020204"/>
                <a:cs typeface="Arial" panose="020B0604020202020204"/>
              </a:defRPr>
            </a:pPr>
            <a:r>
              <a:rPr lang="en-IN" sz="1220" b="0" dirty="0">
                <a:solidFill>
                  <a:srgbClr val="202020"/>
                </a:solidFill>
                <a:latin typeface="Arial" panose="020B0604020202020204"/>
                <a:ea typeface="Arial" panose="020B0604020202020204"/>
                <a:cs typeface="Arial" panose="020B0604020202020204"/>
              </a:rPr>
              <a:t>Prit Jain- PPT</a:t>
            </a:r>
            <a:endParaRPr lang="en-IN" sz="1220" b="0" dirty="0">
              <a:solidFill>
                <a:srgbClr val="202020"/>
              </a:solidFill>
              <a:latin typeface="Arial" panose="020B0604020202020204"/>
              <a:ea typeface="Arial" panose="020B0604020202020204"/>
              <a:cs typeface="Arial" panose="020B0604020202020204"/>
            </a:endParaRPr>
          </a:p>
        </p:txBody>
      </p:sp>
      <p:sp>
        <p:nvSpPr>
          <p:cNvPr id="6" name="Rectangle 5"/>
          <p:cNvSpPr>
            <a:spLocks noGrp="1"/>
          </p:cNvSpPr>
          <p:nvPr/>
        </p:nvSpPr>
        <p:spPr>
          <a:xfrm>
            <a:off x="523875" y="5381625"/>
            <a:ext cx="8096250" cy="523875"/>
          </a:xfrm>
          <a:prstGeom prst="rect">
            <a:avLst/>
          </a:prstGeom>
          <a:noFill/>
          <a:ln w="0">
            <a:noFill/>
            <a:prstDash val="solid"/>
          </a:ln>
        </p:spPr>
        <p:txBody>
          <a:bodyPr/>
          <a:lstStyle>
            <a:defPPr>
              <a:defRPr sz="1575" b="0">
                <a:solidFill>
                  <a:srgbClr val="202020"/>
                </a:solidFill>
                <a:latin typeface="Arial" panose="020B0604020202020204"/>
                <a:ea typeface="Arial" panose="020B0604020202020204"/>
                <a:cs typeface="Arial" panose="020B0604020202020204"/>
              </a:defRPr>
            </a:defPPr>
          </a:lstStyle>
          <a:p>
            <a:pPr>
              <a:defRPr sz="1575" b="0">
                <a:solidFill>
                  <a:srgbClr val="202020"/>
                </a:solidFill>
                <a:latin typeface="Arial" panose="020B0604020202020204"/>
                <a:ea typeface="Arial" panose="020B0604020202020204"/>
                <a:cs typeface="Arial" panose="020B0604020202020204"/>
              </a:defRPr>
            </a:pPr>
            <a:endParaRPr sz="1180" b="0">
              <a:solidFill>
                <a:srgbClr val="202020"/>
              </a:solidFill>
              <a:latin typeface="Arial" panose="020B0604020202020204"/>
              <a:ea typeface="Arial" panose="020B0604020202020204"/>
              <a:cs typeface="Arial" panose="020B060402020202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p:cNvSpPr>
            <a:spLocks noGrp="1"/>
          </p:cNvSpPr>
          <p:nvPr/>
        </p:nvSpPr>
        <p:spPr>
          <a:xfrm>
            <a:off x="523875" y="400050"/>
            <a:ext cx="8096250" cy="666750"/>
          </a:xfrm>
          <a:prstGeom prst="rect">
            <a:avLst/>
          </a:prstGeom>
          <a:noFill/>
          <a:ln w="0">
            <a:noFill/>
            <a:prstDash val="solid"/>
          </a:ln>
        </p:spPr>
        <p:txBody>
          <a:bodyPr/>
          <a:lstStyle>
            <a:defPPr>
              <a:defRPr sz="2550" b="1">
                <a:solidFill>
                  <a:srgbClr val="20375C"/>
                </a:solidFill>
                <a:latin typeface="Arial" panose="020B0604020202020204"/>
                <a:ea typeface="Arial" panose="020B0604020202020204"/>
                <a:cs typeface="Arial" panose="020B0604020202020204"/>
              </a:defRPr>
            </a:defPPr>
          </a:lstStyle>
          <a:p>
            <a:pPr>
              <a:defRPr sz="2550" b="1">
                <a:solidFill>
                  <a:srgbClr val="20375C"/>
                </a:solidFill>
                <a:latin typeface="Arial" panose="020B0604020202020204"/>
                <a:ea typeface="Arial" panose="020B0604020202020204"/>
                <a:cs typeface="Arial" panose="020B0604020202020204"/>
              </a:defRPr>
            </a:pPr>
            <a:r>
              <a:rPr sz="2550" b="1">
                <a:solidFill>
                  <a:srgbClr val="20375C"/>
                </a:solidFill>
                <a:latin typeface="Arial" panose="020B0604020202020204"/>
                <a:ea typeface="Arial" panose="020B0604020202020204"/>
                <a:cs typeface="Arial" panose="020B0604020202020204"/>
              </a:rPr>
              <a:t>References</a:t>
            </a:r>
            <a:endParaRPr sz="2550" b="1">
              <a:solidFill>
                <a:srgbClr val="20375C"/>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523875" y="6315075"/>
            <a:ext cx="5905500" cy="238125"/>
          </a:xfrm>
          <a:prstGeom prst="rect">
            <a:avLst/>
          </a:prstGeom>
          <a:noFill/>
          <a:ln w="0">
            <a:noFill/>
            <a:prstDash val="solid"/>
          </a:ln>
        </p:spPr>
        <p:txBody>
          <a:bodyPr/>
          <a:lstStyle>
            <a:defPPr>
              <a:defRPr sz="1125" b="0">
                <a:solidFill>
                  <a:srgbClr val="555555"/>
                </a:solidFill>
                <a:latin typeface="Arial" panose="020B0604020202020204"/>
                <a:ea typeface="Arial" panose="020B0604020202020204"/>
                <a:cs typeface="Arial" panose="020B0604020202020204"/>
              </a:defRPr>
            </a:defPPr>
          </a:lstStyle>
          <a:p>
            <a:pPr>
              <a:defRPr sz="1125" b="0">
                <a:solidFill>
                  <a:srgbClr val="555555"/>
                </a:solidFill>
                <a:latin typeface="Arial" panose="020B0604020202020204"/>
                <a:ea typeface="Arial" panose="020B0604020202020204"/>
                <a:cs typeface="Arial" panose="020B0604020202020204"/>
              </a:defRPr>
            </a:pPr>
            <a:r>
              <a:rPr sz="1125" b="0">
                <a:solidFill>
                  <a:srgbClr val="555555"/>
                </a:solidFill>
                <a:latin typeface="Arial" panose="020B0604020202020204"/>
                <a:ea typeface="Arial" panose="020B0604020202020204"/>
                <a:cs typeface="Arial" panose="020B0604020202020204"/>
              </a:rPr>
              <a:t>Computer Networks Laboratory   CSE20110</a:t>
            </a:r>
            <a:endParaRPr sz="1125" b="0">
              <a:solidFill>
                <a:srgbClr val="555555"/>
              </a:solidFill>
              <a:latin typeface="Arial" panose="020B0604020202020204"/>
              <a:ea typeface="Arial" panose="020B0604020202020204"/>
              <a:cs typeface="Arial" panose="020B0604020202020204"/>
            </a:endParaRPr>
          </a:p>
        </p:txBody>
      </p:sp>
      <p:sp>
        <p:nvSpPr>
          <p:cNvPr id="3" name="Rectangle 2"/>
          <p:cNvSpPr>
            <a:spLocks noGrp="1"/>
          </p:cNvSpPr>
          <p:nvPr/>
        </p:nvSpPr>
        <p:spPr>
          <a:xfrm>
            <a:off x="6667500" y="6315075"/>
            <a:ext cx="1905000" cy="238125"/>
          </a:xfrm>
          <a:prstGeom prst="rect">
            <a:avLst/>
          </a:prstGeom>
          <a:noFill/>
          <a:ln w="0">
            <a:noFill/>
            <a:prstDash val="solid"/>
          </a:ln>
        </p:spPr>
        <p:txBody>
          <a:bodyPr/>
          <a:lstStyle>
            <a:defPPr>
              <a:defRPr sz="1125" b="0">
                <a:solidFill>
                  <a:srgbClr val="555555"/>
                </a:solidFill>
                <a:latin typeface="Arial" panose="020B0604020202020204"/>
                <a:ea typeface="Arial" panose="020B0604020202020204"/>
                <a:cs typeface="Arial" panose="020B0604020202020204"/>
              </a:defRPr>
            </a:defPPr>
          </a:lstStyle>
          <a:p>
            <a:pPr>
              <a:defRPr sz="1125" b="0">
                <a:solidFill>
                  <a:srgbClr val="555555"/>
                </a:solidFill>
                <a:latin typeface="Arial" panose="020B0604020202020204"/>
                <a:ea typeface="Arial" panose="020B0604020202020204"/>
                <a:cs typeface="Arial" panose="020B0604020202020204"/>
              </a:defRPr>
            </a:pPr>
            <a:r>
              <a:rPr sz="1125" b="0">
                <a:solidFill>
                  <a:srgbClr val="555555"/>
                </a:solidFill>
                <a:latin typeface="Arial" panose="020B0604020202020204"/>
                <a:ea typeface="Arial" panose="020B0604020202020204"/>
                <a:cs typeface="Arial" panose="020B0604020202020204"/>
              </a:rPr>
              <a:t>Backup slide</a:t>
            </a:r>
            <a:endParaRPr sz="1125" b="0">
              <a:solidFill>
                <a:srgbClr val="555555"/>
              </a:solidFill>
              <a:latin typeface="Arial" panose="020B0604020202020204"/>
              <a:ea typeface="Arial" panose="020B0604020202020204"/>
              <a:cs typeface="Arial" panose="020B0604020202020204"/>
            </a:endParaRPr>
          </a:p>
        </p:txBody>
      </p:sp>
      <p:sp>
        <p:nvSpPr>
          <p:cNvPr id="4" name="Rectangle 3"/>
          <p:cNvSpPr>
            <a:spLocks noGrp="1"/>
          </p:cNvSpPr>
          <p:nvPr/>
        </p:nvSpPr>
        <p:spPr>
          <a:xfrm>
            <a:off x="523875" y="1524000"/>
            <a:ext cx="8096250" cy="3048000"/>
          </a:xfrm>
          <a:prstGeom prst="rect">
            <a:avLst/>
          </a:prstGeom>
          <a:noFill/>
          <a:ln w="0">
            <a:noFill/>
            <a:prstDash val="solid"/>
          </a:ln>
        </p:spPr>
        <p:txBody>
          <a:bodyPr/>
          <a:lstStyle>
            <a:defPPr>
              <a:defRPr sz="1800" b="0">
                <a:solidFill>
                  <a:srgbClr val="202020"/>
                </a:solidFill>
                <a:latin typeface="Arial" panose="020B0604020202020204"/>
                <a:ea typeface="Arial" panose="020B0604020202020204"/>
                <a:cs typeface="Arial" panose="020B0604020202020204"/>
              </a:defRPr>
            </a:defPPr>
          </a:lstStyle>
          <a:p>
            <a:pPr>
              <a:defRPr sz="1800" b="0">
                <a:solidFill>
                  <a:srgbClr val="202020"/>
                </a:solidFill>
                <a:latin typeface="Arial" panose="020B0604020202020204"/>
                <a:ea typeface="Arial" panose="020B0604020202020204"/>
                <a:cs typeface="Arial" panose="020B0604020202020204"/>
              </a:defRPr>
            </a:pPr>
            <a:r>
              <a:rPr sz="1200" b="0">
                <a:solidFill>
                  <a:srgbClr val="202020"/>
                </a:solidFill>
                <a:latin typeface="Arial" panose="020B0604020202020204"/>
                <a:ea typeface="Arial" panose="020B0604020202020204"/>
                <a:cs typeface="Arial" panose="020B0604020202020204"/>
              </a:rPr>
              <a:t>[1] H. Garcia-Molina, “Elections in a Distributed Computing System,” IEEE Trans. Computers, vol. C-31, no. 1, pp. 48–59, Jan. 1982. doi:10.1109/TC.1982.1675885.</a:t>
            </a:r>
            <a:endParaRPr sz="1200" b="0">
              <a:solidFill>
                <a:srgbClr val="202020"/>
              </a:solidFill>
              <a:latin typeface="Arial" panose="020B0604020202020204"/>
              <a:ea typeface="Arial" panose="020B0604020202020204"/>
              <a:cs typeface="Arial" panose="020B0604020202020204"/>
            </a:endParaRPr>
          </a:p>
          <a:p>
            <a:r>
              <a:rPr sz="1200">
                <a:latin typeface="Arial" panose="020B0604020202020204"/>
              </a:rPr>
              <a:t>[2] W. Eddy, ed., “Transmission Control Protocol (TCP),” RFC 9293, IETF, Aug. 2022. rfc-editor.org/rfc/rfc9293</a:t>
            </a:r>
            <a:endParaRPr sz="1800" b="0">
              <a:solidFill>
                <a:srgbClr val="202020"/>
              </a:solidFill>
              <a:latin typeface="Arial" panose="020B0604020202020204"/>
              <a:ea typeface="Arial" panose="020B0604020202020204"/>
              <a:cs typeface="Arial" panose="020B0604020202020204"/>
            </a:endParaRPr>
          </a:p>
          <a:p>
            <a:pPr>
              <a:defRPr sz="1800" b="0">
                <a:solidFill>
                  <a:srgbClr val="202020"/>
                </a:solidFill>
                <a:latin typeface="Arial" panose="020B0604020202020204"/>
                <a:ea typeface="Arial" panose="020B0604020202020204"/>
                <a:cs typeface="Arial" panose="020B0604020202020204"/>
              </a:defRPr>
            </a:pPr>
            <a:r>
              <a:rPr sz="1200" b="0">
                <a:solidFill>
                  <a:srgbClr val="202020"/>
                </a:solidFill>
                <a:latin typeface="Arial" panose="020B0604020202020204"/>
                <a:ea typeface="Arial" panose="020B0604020202020204"/>
                <a:cs typeface="Arial" panose="020B0604020202020204"/>
              </a:rPr>
              <a:t>[3] Python Software Foundation, “Socket Programming HOWTO,” docs.python.org/3/howto/sockets.html.</a:t>
            </a:r>
            <a:endParaRPr sz="1200" b="0">
              <a:solidFill>
                <a:srgbClr val="202020"/>
              </a:solidFill>
              <a:latin typeface="Arial" panose="020B0604020202020204"/>
              <a:ea typeface="Arial" panose="020B0604020202020204"/>
              <a:cs typeface="Arial" panose="020B0604020202020204"/>
            </a:endParaRPr>
          </a:p>
          <a:p>
            <a:r>
              <a:rPr sz="1200">
                <a:latin typeface="Arial" panose="020B0604020202020204"/>
              </a:rPr>
              <a:t>[4] FastAPI, “WebSockets,” fastapi.tiangolo.com/advanced/websockets/. Accessed 17 Oct. 2026.</a:t>
            </a:r>
            <a:endParaRPr sz="1800" b="0">
              <a:solidFill>
                <a:srgbClr val="202020"/>
              </a:solidFill>
              <a:latin typeface="Arial" panose="020B0604020202020204"/>
              <a:ea typeface="Arial" panose="020B0604020202020204"/>
              <a:cs typeface="Arial" panose="020B0604020202020204"/>
            </a:endParaRPr>
          </a:p>
          <a:p>
            <a:pPr>
              <a:defRPr sz="1800" b="0">
                <a:solidFill>
                  <a:srgbClr val="202020"/>
                </a:solidFill>
                <a:latin typeface="Arial" panose="020B0604020202020204"/>
                <a:ea typeface="Arial" panose="020B0604020202020204"/>
                <a:cs typeface="Arial" panose="020B0604020202020204"/>
              </a:defRPr>
            </a:pPr>
            <a:endParaRPr sz="1200" b="0">
              <a:solidFill>
                <a:srgbClr val="202020"/>
              </a:solidFill>
              <a:latin typeface="Arial" panose="020B0604020202020204"/>
              <a:ea typeface="Arial" panose="020B0604020202020204"/>
              <a:cs typeface="Arial" panose="020B0604020202020204"/>
            </a:endParaRPr>
          </a:p>
        </p:txBody>
      </p:sp>
      <p:sp>
        <p:nvSpPr>
          <p:cNvPr id="5" name="Rectangle 4"/>
          <p:cNvSpPr>
            <a:spLocks noGrp="1"/>
          </p:cNvSpPr>
          <p:nvPr/>
        </p:nvSpPr>
        <p:spPr>
          <a:xfrm>
            <a:off x="523875" y="5143500"/>
            <a:ext cx="8096250" cy="762000"/>
          </a:xfrm>
          <a:prstGeom prst="rect">
            <a:avLst/>
          </a:prstGeom>
          <a:noFill/>
          <a:ln w="0">
            <a:noFill/>
            <a:prstDash val="solid"/>
          </a:ln>
        </p:spPr>
        <p:txBody>
          <a:bodyPr/>
          <a:lstStyle>
            <a:defPPr>
              <a:defRPr sz="1575" b="0">
                <a:solidFill>
                  <a:srgbClr val="202020"/>
                </a:solidFill>
                <a:latin typeface="Arial" panose="020B0604020202020204"/>
                <a:ea typeface="Arial" panose="020B0604020202020204"/>
                <a:cs typeface="Arial" panose="020B0604020202020204"/>
              </a:defRPr>
            </a:defPPr>
          </a:lstStyle>
          <a:p>
            <a:pPr>
              <a:defRPr sz="1575" b="0">
                <a:solidFill>
                  <a:srgbClr val="202020"/>
                </a:solidFill>
                <a:latin typeface="Arial" panose="020B0604020202020204"/>
                <a:ea typeface="Arial" panose="020B0604020202020204"/>
                <a:cs typeface="Arial" panose="020B0604020202020204"/>
              </a:defRPr>
            </a:pPr>
            <a:endParaRPr sz="1280" b="0">
              <a:solidFill>
                <a:srgbClr val="202020"/>
              </a:solidFill>
              <a:latin typeface="Arial" panose="020B0604020202020204"/>
              <a:ea typeface="Arial" panose="020B0604020202020204"/>
              <a:cs typeface="Arial" panose="020B0604020202020204"/>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5158</Words>
  <Application>WPS Presentation</Application>
  <PresentationFormat>On-screen Show (4:3)</PresentationFormat>
  <Paragraphs>155</Paragraphs>
  <Slides>19</Slides>
  <Notes>8</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19</vt:i4>
      </vt:variant>
    </vt:vector>
  </HeadingPairs>
  <TitlesOfParts>
    <vt:vector size="28" baseType="lpstr">
      <vt:lpstr>Arial</vt:lpstr>
      <vt:lpstr>SimSun</vt:lpstr>
      <vt:lpstr>Wingdings</vt:lpstr>
      <vt:lpstr>Arial</vt:lpstr>
      <vt:lpstr>Microsoft YaHei</vt:lpstr>
      <vt:lpstr>Arial Unicode MS</vt:lpstr>
      <vt:lpstr>Aptos</vt:lpstr>
      <vt:lpstr>Segoe UI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Chat with Leader Election — Mini Project Presentation</dc:title>
  <dc:creator>Project Group</dc:creator>
  <dc:subject>Computer Networks Laboratory CSE20110</dc:subject>
  <cp:lastModifiedBy>Raunak</cp:lastModifiedBy>
  <cp:revision>11</cp:revision>
  <dcterms:created xsi:type="dcterms:W3CDTF">2026-10-14T10:56:00Z</dcterms:created>
  <dcterms:modified xsi:type="dcterms:W3CDTF">2026-10-21T14:03:05Z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267B3E7D85AB4ADC90975AABFD61C6B6_12</vt:lpwstr>
  </property>
</Properties>
</file>